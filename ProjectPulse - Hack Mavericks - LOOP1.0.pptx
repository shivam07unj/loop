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2" r:id="rId15"/>
    <p:sldId id="260" r:id="rId7"/>
  </p:sldIdLst>
  <p:sldSz cx="18288000" cy="10287000"/>
  <p:notesSz cx="6858000" cy="9144000"/>
  <p:embeddedFontLst>
    <p:embeddedFont>
      <p:font typeface="Cerebri" panose="020B0604020202020204" charset="0"/>
      <p:regular r:id="rId8"/>
    </p:embeddedFont>
    <p:embeddedFont>
      <p:font typeface="Cerebri Medium" panose="020B0604020202020204" charset="0"/>
      <p:regular r:id="rId9"/>
    </p:embeddedFont>
    <p:embeddedFont>
      <p:font typeface="Optima"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1032" y="-98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p:cNvGrpSpPr/>
        <p:nvPr/>
      </p:nvGrpSpPr>
      <p:grpSpPr>
        <a:xfrm>
          <a:off x="0" y="0"/>
          <a:ext cx="0" cy="0"/>
          <a:chOff x="0" y="0"/>
          <a:chExt cx="0" cy="0"/>
        </a:xfrm>
      </p:grpSpPr>
      <p:sp>
        <p:nvSpPr>
          <p:cNvPr id="3" name="Freeform 3"/>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txBody>
          <a:bodyPr/>
          <a:lstStyle/>
          <a:p>
            <a:endParaRPr lang="en-IN" dirty="0"/>
          </a:p>
        </p:txBody>
      </p:sp>
      <p:sp>
        <p:nvSpPr>
          <p:cNvPr id="7" name="Freeform 7"/>
          <p:cNvSpPr/>
          <p:nvPr/>
        </p:nvSpPr>
        <p:spPr>
          <a:xfrm>
            <a:off x="16306800" y="360547"/>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3"/>
            <a:stretch>
              <a:fillRect/>
            </a:stretch>
          </a:blipFill>
        </p:spPr>
      </p:sp>
      <p:sp>
        <p:nvSpPr>
          <p:cNvPr id="8" name="Rectangle 7"/>
          <p:cNvSpPr/>
          <p:nvPr/>
        </p:nvSpPr>
        <p:spPr>
          <a:xfrm>
            <a:off x="914400" y="2011680"/>
            <a:ext cx="16459200" cy="6217920"/>
          </a:xfrm>
          <a:prstGeom prst="rect">
            <a:avLst/>
          </a:prstGeom>
          <a:solidFill>
            <a:srgbClr val="F2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11680"/>
            <a:ext cx="16093440" cy="1371600"/>
          </a:xfrm>
          <a:prstGeom prst="rect">
            <a:avLst/>
          </a:prstGeom>
          <a:noFill/>
        </p:spPr>
        <p:txBody>
          <a:bodyPr wrap="square">
            <a:spAutoFit/>
          </a:bodyPr>
          <a:lstStyle/>
          <a:p>
            <a:pPr algn="l"/>
            <a:r>
              <a:rPr sz="7800" b="1" i="0">
                <a:solidFill>
                  <a:srgbClr val="1C1C2C"/>
                </a:solidFill>
                <a:latin typeface="Calibri"/>
              </a:rPr>
              <a:t>ProjectPulse</a:t>
            </a:r>
          </a:p>
        </p:txBody>
      </p:sp>
      <p:sp>
        <p:nvSpPr>
          <p:cNvPr id="10" name="TextBox 9"/>
          <p:cNvSpPr txBox="1"/>
          <p:nvPr/>
        </p:nvSpPr>
        <p:spPr>
          <a:xfrm>
            <a:off x="1097280" y="3429000"/>
            <a:ext cx="16093440" cy="530352"/>
          </a:xfrm>
          <a:prstGeom prst="rect">
            <a:avLst/>
          </a:prstGeom>
          <a:noFill/>
        </p:spPr>
        <p:txBody>
          <a:bodyPr wrap="square">
            <a:spAutoFit/>
          </a:bodyPr>
          <a:lstStyle/>
          <a:p>
            <a:pPr algn="l"/>
            <a:r>
              <a:rPr sz="2200" b="0" i="1">
                <a:solidFill>
                  <a:srgbClr val="0C386E"/>
                </a:solidFill>
                <a:latin typeface="Calibri"/>
              </a:rPr>
              <a:t>AI-Powered Project Intelligence Platform</a:t>
            </a:r>
          </a:p>
        </p:txBody>
      </p:sp>
      <p:sp>
        <p:nvSpPr>
          <p:cNvPr id="11" name="Rectangle 10"/>
          <p:cNvSpPr/>
          <p:nvPr/>
        </p:nvSpPr>
        <p:spPr>
          <a:xfrm>
            <a:off x="1097280" y="4041648"/>
            <a:ext cx="7315200" cy="4114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187952"/>
            <a:ext cx="16093440" cy="438912"/>
          </a:xfrm>
          <a:prstGeom prst="rect">
            <a:avLst/>
          </a:prstGeom>
          <a:noFill/>
        </p:spPr>
        <p:txBody>
          <a:bodyPr wrap="square">
            <a:spAutoFit/>
          </a:bodyPr>
          <a:lstStyle/>
          <a:p>
            <a:pPr algn="l"/>
            <a:r>
              <a:rPr sz="1600" b="0" i="0">
                <a:solidFill>
                  <a:srgbClr val="1C1C2C"/>
                </a:solidFill>
                <a:latin typeface="Calibri"/>
              </a:rPr>
              <a:t>Transforming raw project activity into proactive, actionable intelligence.</a:t>
            </a:r>
          </a:p>
        </p:txBody>
      </p:sp>
      <p:sp>
        <p:nvSpPr>
          <p:cNvPr id="13" name="TextBox 12"/>
          <p:cNvSpPr txBox="1"/>
          <p:nvPr/>
        </p:nvSpPr>
        <p:spPr>
          <a:xfrm>
            <a:off x="1097280" y="4663440"/>
            <a:ext cx="16093440" cy="658368"/>
          </a:xfrm>
          <a:prstGeom prst="rect">
            <a:avLst/>
          </a:prstGeom>
          <a:noFill/>
        </p:spPr>
        <p:txBody>
          <a:bodyPr wrap="square">
            <a:spAutoFit/>
          </a:bodyPr>
          <a:lstStyle/>
          <a:p>
            <a:pPr algn="l"/>
            <a:r>
              <a:rPr sz="1400" b="0" i="0">
                <a:solidFill>
                  <a:srgbClr val="545464"/>
                </a:solidFill>
                <a:latin typeface="Calibri"/>
              </a:rPr>
              <a:t>ProjectPulse continuously monitors your team’s tasks, communications, and deadlines across all tools — then proactively identifies risks, surfaces hidden blockers, and delivers AI-generated insights. Replacing reactive firefighting with intelligent foresight.</a:t>
            </a:r>
          </a:p>
        </p:txBody>
      </p:sp>
      <p:sp>
        <p:nvSpPr>
          <p:cNvPr id="14" name="Rectangle 13"/>
          <p:cNvSpPr/>
          <p:nvPr/>
        </p:nvSpPr>
        <p:spPr>
          <a:xfrm>
            <a:off x="914400" y="5532120"/>
            <a:ext cx="16459200" cy="246888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5650992"/>
            <a:ext cx="8229600" cy="438912"/>
          </a:xfrm>
          <a:prstGeom prst="rect">
            <a:avLst/>
          </a:prstGeom>
          <a:noFill/>
        </p:spPr>
        <p:txBody>
          <a:bodyPr wrap="square">
            <a:spAutoFit/>
          </a:bodyPr>
          <a:lstStyle/>
          <a:p>
            <a:pPr algn="l"/>
            <a:r>
              <a:rPr sz="1700" b="1" i="0">
                <a:solidFill>
                  <a:srgbClr val="0C386E"/>
                </a:solidFill>
                <a:latin typeface="Calibri"/>
              </a:rPr>
              <a:t>Team:  Hack Mavericks</a:t>
            </a:r>
          </a:p>
        </p:txBody>
      </p:sp>
      <p:sp>
        <p:nvSpPr>
          <p:cNvPr id="16" name="TextBox 15"/>
          <p:cNvSpPr txBox="1"/>
          <p:nvPr/>
        </p:nvSpPr>
        <p:spPr>
          <a:xfrm>
            <a:off x="1188720" y="6126480"/>
            <a:ext cx="15910559" cy="420624"/>
          </a:xfrm>
          <a:prstGeom prst="rect">
            <a:avLst/>
          </a:prstGeom>
          <a:noFill/>
        </p:spPr>
        <p:txBody>
          <a:bodyPr wrap="square">
            <a:spAutoFit/>
          </a:bodyPr>
          <a:lstStyle/>
          <a:p>
            <a:pPr algn="l"/>
            <a:r>
              <a:rPr sz="1500" b="0" i="0">
                <a:solidFill>
                  <a:srgbClr val="1C1C2C"/>
                </a:solidFill>
                <a:latin typeface="Calibri"/>
              </a:rPr>
              <a:t>Ashish Marothia   ·   Abhishek Pal   ·   Shivam Mewada   ·   Satyam Pandey   ·   Nishant Navale   ·   Kshitij Nalawade</a:t>
            </a:r>
          </a:p>
        </p:txBody>
      </p:sp>
      <p:sp>
        <p:nvSpPr>
          <p:cNvPr id="17" name="TextBox 16"/>
          <p:cNvSpPr txBox="1"/>
          <p:nvPr/>
        </p:nvSpPr>
        <p:spPr>
          <a:xfrm>
            <a:off x="1188720" y="6583680"/>
            <a:ext cx="15910559" cy="384048"/>
          </a:xfrm>
          <a:prstGeom prst="rect">
            <a:avLst/>
          </a:prstGeom>
          <a:noFill/>
        </p:spPr>
        <p:txBody>
          <a:bodyPr wrap="square">
            <a:spAutoFit/>
          </a:bodyPr>
          <a:lstStyle/>
          <a:p>
            <a:pPr algn="l"/>
            <a:r>
              <a:rPr sz="1300" b="0" i="0">
                <a:solidFill>
                  <a:srgbClr val="545464"/>
                </a:solidFill>
                <a:latin typeface="Calibri"/>
              </a:rPr>
              <a:t>Team strengths: Full-stack engineering  ·  AI/ML  ·  Cloud infrastructure  ·  Data engineering  ·  Systems integration</a:t>
            </a:r>
          </a:p>
        </p:txBody>
      </p:sp>
      <p:sp>
        <p:nvSpPr>
          <p:cNvPr id="18" name="TextBox 17"/>
          <p:cNvSpPr txBox="1"/>
          <p:nvPr/>
        </p:nvSpPr>
        <p:spPr>
          <a:xfrm>
            <a:off x="1188720" y="7022592"/>
            <a:ext cx="15910559" cy="384048"/>
          </a:xfrm>
          <a:prstGeom prst="rect">
            <a:avLst/>
          </a:prstGeom>
          <a:noFill/>
        </p:spPr>
        <p:txBody>
          <a:bodyPr wrap="square">
            <a:spAutoFit/>
          </a:bodyPr>
          <a:lstStyle/>
          <a:p>
            <a:pPr algn="l"/>
            <a:r>
              <a:rPr sz="1300" b="0" i="1">
                <a:solidFill>
                  <a:srgbClr val="545464"/>
                </a:solidFill>
                <a:latin typeface="Calibri"/>
              </a:rPr>
              <a:t>LOOP 1.0   ·   Bharati Vidyapeeth College of Engineering, Navi Mumbai   ·   March 11,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p:cNvGrpSpPr/>
        <p:nvPr/>
      </p:nvGrpSpPr>
      <p:grpSpPr>
        <a:xfrm>
          <a:off x="0" y="0"/>
          <a:ext cx="0" cy="0"/>
          <a:chOff x="0" y="0"/>
          <a:chExt cx="0" cy="0"/>
        </a:xfrm>
      </p:grpSpPr>
      <p:sp>
        <p:nvSpPr>
          <p:cNvPr id="2" name="Freeform 2"/>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txBody>
          <a:bodyPr/>
          <a:lstStyle/>
          <a:p>
            <a:endParaRPr lang="en-IN" dirty="0"/>
          </a:p>
        </p:txBody>
      </p:sp>
      <p:sp>
        <p:nvSpPr>
          <p:cNvPr id="6" name="Freeform 6"/>
          <p:cNvSpPr/>
          <p:nvPr/>
        </p:nvSpPr>
        <p:spPr>
          <a:xfrm>
            <a:off x="16395852" y="321662"/>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3"/>
            <a:stretch>
              <a:fillRect/>
            </a:stretch>
          </a:blipFill>
        </p:spPr>
      </p:sp>
      <p:sp>
        <p:nvSpPr>
          <p:cNvPr id="7" name="TextBox 6"/>
          <p:cNvSpPr txBox="1"/>
          <p:nvPr/>
        </p:nvSpPr>
        <p:spPr>
          <a:xfrm>
            <a:off x="1097280" y="1371600"/>
            <a:ext cx="16093440" cy="411480"/>
          </a:xfrm>
          <a:prstGeom prst="rect">
            <a:avLst/>
          </a:prstGeom>
          <a:noFill/>
        </p:spPr>
        <p:txBody>
          <a:bodyPr wrap="square">
            <a:spAutoFit/>
          </a:bodyPr>
          <a:lstStyle/>
          <a:p>
            <a:pPr algn="l"/>
            <a:r>
              <a:rPr sz="1200" b="1" i="0">
                <a:solidFill>
                  <a:srgbClr val="0C386E"/>
                </a:solidFill>
                <a:latin typeface="Calibri"/>
              </a:rPr>
              <a:t>PROBLEM STATEMENT</a:t>
            </a:r>
          </a:p>
        </p:txBody>
      </p:sp>
      <p:sp>
        <p:nvSpPr>
          <p:cNvPr id="8" name="TextBox 7"/>
          <p:cNvSpPr txBox="1"/>
          <p:nvPr/>
        </p:nvSpPr>
        <p:spPr>
          <a:xfrm>
            <a:off x="1097280" y="1755648"/>
            <a:ext cx="16093440" cy="868680"/>
          </a:xfrm>
          <a:prstGeom prst="rect">
            <a:avLst/>
          </a:prstGeom>
          <a:noFill/>
        </p:spPr>
        <p:txBody>
          <a:bodyPr wrap="square">
            <a:spAutoFit/>
          </a:bodyPr>
          <a:lstStyle/>
          <a:p>
            <a:pPr algn="l"/>
            <a:r>
              <a:rPr sz="3000" b="1" i="0">
                <a:solidFill>
                  <a:srgbClr val="1C1C2C"/>
                </a:solidFill>
                <a:latin typeface="Calibri"/>
              </a:rPr>
              <a:t>Teams Are Losing Productivity to Manual Coordination</a:t>
            </a:r>
          </a:p>
        </p:txBody>
      </p:sp>
      <p:sp>
        <p:nvSpPr>
          <p:cNvPr id="9" name="Rectangle 8"/>
          <p:cNvSpPr/>
          <p:nvPr/>
        </p:nvSpPr>
        <p:spPr>
          <a:xfrm>
            <a:off x="1097280" y="2670048"/>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944368"/>
            <a:ext cx="16093440" cy="640080"/>
          </a:xfrm>
          <a:prstGeom prst="rect">
            <a:avLst/>
          </a:prstGeom>
          <a:noFill/>
        </p:spPr>
        <p:txBody>
          <a:bodyPr wrap="square">
            <a:spAutoFit/>
          </a:bodyPr>
          <a:lstStyle/>
          <a:p>
            <a:pPr algn="l"/>
            <a:r>
              <a:rPr sz="1600" b="0" i="1">
                <a:solidFill>
                  <a:srgbClr val="545464"/>
                </a:solidFill>
                <a:latin typeface="Calibri"/>
              </a:rPr>
              <a:t>As teams scale and projects become more distributed, existing tools show what has been updated — but not what it means. Teams spend 30%+ of their working time on coordination rather than productive work.</a:t>
            </a:r>
          </a:p>
        </p:txBody>
      </p:sp>
      <p:sp>
        <p:nvSpPr>
          <p:cNvPr id="11" name="Rectangle 10"/>
          <p:cNvSpPr/>
          <p:nvPr/>
        </p:nvSpPr>
        <p:spPr>
          <a:xfrm>
            <a:off x="1097280" y="3730752"/>
            <a:ext cx="16093440" cy="2212848"/>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3730752"/>
            <a:ext cx="502920" cy="221284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3803904"/>
            <a:ext cx="384048" cy="502920"/>
          </a:xfrm>
          <a:prstGeom prst="rect">
            <a:avLst/>
          </a:prstGeom>
          <a:noFill/>
        </p:spPr>
        <p:txBody>
          <a:bodyPr wrap="square">
            <a:spAutoFit/>
          </a:bodyPr>
          <a:lstStyle/>
          <a:p>
            <a:pPr algn="l"/>
            <a:r>
              <a:rPr sz="2000" b="1" i="0">
                <a:solidFill>
                  <a:srgbClr val="FFFFFF"/>
                </a:solidFill>
                <a:latin typeface="Calibri"/>
              </a:rPr>
              <a:t>01</a:t>
            </a:r>
          </a:p>
        </p:txBody>
      </p:sp>
      <p:sp>
        <p:nvSpPr>
          <p:cNvPr id="14" name="TextBox 13"/>
          <p:cNvSpPr txBox="1"/>
          <p:nvPr/>
        </p:nvSpPr>
        <p:spPr>
          <a:xfrm>
            <a:off x="1783080" y="3822191"/>
            <a:ext cx="15224759" cy="457200"/>
          </a:xfrm>
          <a:prstGeom prst="rect">
            <a:avLst/>
          </a:prstGeom>
          <a:noFill/>
        </p:spPr>
        <p:txBody>
          <a:bodyPr wrap="square">
            <a:spAutoFit/>
          </a:bodyPr>
          <a:lstStyle/>
          <a:p>
            <a:pPr algn="l"/>
            <a:r>
              <a:rPr sz="1700" b="1" i="0">
                <a:solidFill>
                  <a:srgbClr val="1C1C2C"/>
                </a:solidFill>
                <a:latin typeface="Calibri"/>
              </a:rPr>
              <a:t>Manual Coordination Overhead</a:t>
            </a:r>
          </a:p>
        </p:txBody>
      </p:sp>
      <p:sp>
        <p:nvSpPr>
          <p:cNvPr id="15" name="TextBox 14"/>
          <p:cNvSpPr txBox="1"/>
          <p:nvPr/>
        </p:nvSpPr>
        <p:spPr>
          <a:xfrm>
            <a:off x="1783080" y="4370832"/>
            <a:ext cx="15224759" cy="1417320"/>
          </a:xfrm>
          <a:prstGeom prst="rect">
            <a:avLst/>
          </a:prstGeom>
          <a:noFill/>
        </p:spPr>
        <p:txBody>
          <a:bodyPr wrap="square">
            <a:spAutoFit/>
          </a:bodyPr>
          <a:lstStyle/>
          <a:p>
            <a:pPr algn="l"/>
            <a:r>
              <a:rPr sz="1400" b="0" i="0">
                <a:solidFill>
                  <a:srgbClr val="1C1C2C"/>
                </a:solidFill>
                <a:latin typeface="Calibri"/>
              </a:rPr>
              <a:t>54 minutes per employee per day are lost to unnecessary status meetings and manual report compilation across 3-5 disconnected tools with no unified view of progress.</a:t>
            </a:r>
          </a:p>
        </p:txBody>
      </p:sp>
      <p:sp>
        <p:nvSpPr>
          <p:cNvPr id="16" name="Rectangle 15"/>
          <p:cNvSpPr/>
          <p:nvPr/>
        </p:nvSpPr>
        <p:spPr>
          <a:xfrm>
            <a:off x="1097280" y="6053328"/>
            <a:ext cx="16093440" cy="2212848"/>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 y="6053328"/>
            <a:ext cx="502920" cy="221284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6126480"/>
            <a:ext cx="384048" cy="502920"/>
          </a:xfrm>
          <a:prstGeom prst="rect">
            <a:avLst/>
          </a:prstGeom>
          <a:noFill/>
        </p:spPr>
        <p:txBody>
          <a:bodyPr wrap="square">
            <a:spAutoFit/>
          </a:bodyPr>
          <a:lstStyle/>
          <a:p>
            <a:pPr algn="l"/>
            <a:r>
              <a:rPr sz="2000" b="1" i="0">
                <a:solidFill>
                  <a:srgbClr val="FFFFFF"/>
                </a:solidFill>
                <a:latin typeface="Calibri"/>
              </a:rPr>
              <a:t>02</a:t>
            </a:r>
          </a:p>
        </p:txBody>
      </p:sp>
      <p:sp>
        <p:nvSpPr>
          <p:cNvPr id="19" name="TextBox 18"/>
          <p:cNvSpPr txBox="1"/>
          <p:nvPr/>
        </p:nvSpPr>
        <p:spPr>
          <a:xfrm>
            <a:off x="1783080" y="6144768"/>
            <a:ext cx="15224759" cy="457200"/>
          </a:xfrm>
          <a:prstGeom prst="rect">
            <a:avLst/>
          </a:prstGeom>
          <a:noFill/>
        </p:spPr>
        <p:txBody>
          <a:bodyPr wrap="square">
            <a:spAutoFit/>
          </a:bodyPr>
          <a:lstStyle/>
          <a:p>
            <a:pPr algn="l"/>
            <a:r>
              <a:rPr sz="1700" b="1" i="0">
                <a:solidFill>
                  <a:srgbClr val="1C1C2C"/>
                </a:solidFill>
                <a:latin typeface="Calibri"/>
              </a:rPr>
              <a:t>Hidden Blockers in Communication</a:t>
            </a:r>
          </a:p>
        </p:txBody>
      </p:sp>
      <p:sp>
        <p:nvSpPr>
          <p:cNvPr id="20" name="TextBox 19"/>
          <p:cNvSpPr txBox="1"/>
          <p:nvPr/>
        </p:nvSpPr>
        <p:spPr>
          <a:xfrm>
            <a:off x="1783080" y="6693408"/>
            <a:ext cx="15224759" cy="1417320"/>
          </a:xfrm>
          <a:prstGeom prst="rect">
            <a:avLst/>
          </a:prstGeom>
          <a:noFill/>
        </p:spPr>
        <p:txBody>
          <a:bodyPr wrap="square">
            <a:spAutoFit/>
          </a:bodyPr>
          <a:lstStyle/>
          <a:p>
            <a:pPr algn="l"/>
            <a:r>
              <a:rPr sz="1400" b="0" i="0">
                <a:solidFill>
                  <a:srgbClr val="1C1C2C"/>
                </a:solidFill>
                <a:latin typeface="Calibri"/>
              </a:rPr>
              <a:t>Critical blockers buried inside Slack threads and email chains go undetected for days, silently delaying dependent tasks and causing sprint failures downstream.</a:t>
            </a:r>
          </a:p>
        </p:txBody>
      </p:sp>
      <p:sp>
        <p:nvSpPr>
          <p:cNvPr id="21" name="Rectangle 20"/>
          <p:cNvSpPr/>
          <p:nvPr/>
        </p:nvSpPr>
        <p:spPr>
          <a:xfrm>
            <a:off x="1097280" y="8375904"/>
            <a:ext cx="16093440" cy="2212848"/>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8375904"/>
            <a:ext cx="502920" cy="221284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7008" y="8449056"/>
            <a:ext cx="384048" cy="502920"/>
          </a:xfrm>
          <a:prstGeom prst="rect">
            <a:avLst/>
          </a:prstGeom>
          <a:noFill/>
        </p:spPr>
        <p:txBody>
          <a:bodyPr wrap="square">
            <a:spAutoFit/>
          </a:bodyPr>
          <a:lstStyle/>
          <a:p>
            <a:pPr algn="l"/>
            <a:r>
              <a:rPr sz="2000" b="1" i="0">
                <a:solidFill>
                  <a:srgbClr val="FFFFFF"/>
                </a:solidFill>
                <a:latin typeface="Calibri"/>
              </a:rPr>
              <a:t>03</a:t>
            </a:r>
          </a:p>
        </p:txBody>
      </p:sp>
      <p:sp>
        <p:nvSpPr>
          <p:cNvPr id="24" name="TextBox 23"/>
          <p:cNvSpPr txBox="1"/>
          <p:nvPr/>
        </p:nvSpPr>
        <p:spPr>
          <a:xfrm>
            <a:off x="1783080" y="8467344"/>
            <a:ext cx="15224759" cy="457200"/>
          </a:xfrm>
          <a:prstGeom prst="rect">
            <a:avLst/>
          </a:prstGeom>
          <a:noFill/>
        </p:spPr>
        <p:txBody>
          <a:bodyPr wrap="square">
            <a:spAutoFit/>
          </a:bodyPr>
          <a:lstStyle/>
          <a:p>
            <a:pPr algn="l"/>
            <a:r>
              <a:rPr sz="1700" b="1" i="0">
                <a:solidFill>
                  <a:srgbClr val="1C1C2C"/>
                </a:solidFill>
                <a:latin typeface="Calibri"/>
              </a:rPr>
              <a:t>Reactive Risk Management</a:t>
            </a:r>
          </a:p>
        </p:txBody>
      </p:sp>
      <p:sp>
        <p:nvSpPr>
          <p:cNvPr id="25" name="TextBox 24"/>
          <p:cNvSpPr txBox="1"/>
          <p:nvPr/>
        </p:nvSpPr>
        <p:spPr>
          <a:xfrm>
            <a:off x="1783080" y="9015984"/>
            <a:ext cx="15224759" cy="1417320"/>
          </a:xfrm>
          <a:prstGeom prst="rect">
            <a:avLst/>
          </a:prstGeom>
          <a:noFill/>
        </p:spPr>
        <p:txBody>
          <a:bodyPr wrap="square">
            <a:spAutoFit/>
          </a:bodyPr>
          <a:lstStyle/>
          <a:p>
            <a:pPr algn="l"/>
            <a:r>
              <a:rPr sz="1400" b="0" i="0">
                <a:solidFill>
                  <a:srgbClr val="1C1C2C"/>
                </a:solidFill>
                <a:latin typeface="Calibri"/>
              </a:rPr>
              <a:t>Deadline risks, workload imbalances, and dependency conflicts are identified only after they cause damage — triggering last-minute escalations and missed milestones.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p:cNvGrpSpPr/>
        <p:nvPr/>
      </p:nvGrpSpPr>
      <p:grpSpPr>
        <a:xfrm>
          <a:off x="0" y="0"/>
          <a:ext cx="0" cy="0"/>
          <a:chOff x="0" y="0"/>
          <a:chExt cx="0" cy="0"/>
        </a:xfrm>
      </p:grpSpPr>
      <p:sp>
        <p:nvSpPr>
          <p:cNvPr id="2" name="Freeform 2"/>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sp>
      <p:sp>
        <p:nvSpPr>
          <p:cNvPr id="6" name="Freeform 6"/>
          <p:cNvSpPr/>
          <p:nvPr/>
        </p:nvSpPr>
        <p:spPr>
          <a:xfrm>
            <a:off x="16395852" y="321662"/>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3"/>
            <a:stretch>
              <a:fillRect/>
            </a:stretch>
          </a:blipFill>
        </p:spPr>
      </p:sp>
      <p:sp>
        <p:nvSpPr>
          <p:cNvPr id="7" name="TextBox 6"/>
          <p:cNvSpPr txBox="1"/>
          <p:nvPr/>
        </p:nvSpPr>
        <p:spPr>
          <a:xfrm>
            <a:off x="1097280" y="1371600"/>
            <a:ext cx="16093440" cy="411480"/>
          </a:xfrm>
          <a:prstGeom prst="rect">
            <a:avLst/>
          </a:prstGeom>
          <a:noFill/>
        </p:spPr>
        <p:txBody>
          <a:bodyPr wrap="square">
            <a:spAutoFit/>
          </a:bodyPr>
          <a:lstStyle/>
          <a:p>
            <a:pPr algn="l"/>
            <a:r>
              <a:rPr sz="1200" b="1" i="0">
                <a:solidFill>
                  <a:srgbClr val="0C386E"/>
                </a:solidFill>
                <a:latin typeface="Calibri"/>
              </a:rPr>
              <a:t>PROPOSED SOLUTION</a:t>
            </a:r>
          </a:p>
        </p:txBody>
      </p:sp>
      <p:sp>
        <p:nvSpPr>
          <p:cNvPr id="8" name="TextBox 7"/>
          <p:cNvSpPr txBox="1"/>
          <p:nvPr/>
        </p:nvSpPr>
        <p:spPr>
          <a:xfrm>
            <a:off x="1097280" y="1755648"/>
            <a:ext cx="16093440" cy="868680"/>
          </a:xfrm>
          <a:prstGeom prst="rect">
            <a:avLst/>
          </a:prstGeom>
          <a:noFill/>
        </p:spPr>
        <p:txBody>
          <a:bodyPr wrap="square">
            <a:spAutoFit/>
          </a:bodyPr>
          <a:lstStyle/>
          <a:p>
            <a:pPr algn="l"/>
            <a:r>
              <a:rPr sz="3000" b="1" i="0">
                <a:solidFill>
                  <a:srgbClr val="1C1C2C"/>
                </a:solidFill>
                <a:latin typeface="Calibri"/>
              </a:rPr>
              <a:t>ProjectPulse — Intelligent Project Monitoring</a:t>
            </a:r>
          </a:p>
        </p:txBody>
      </p:sp>
      <p:sp>
        <p:nvSpPr>
          <p:cNvPr id="9" name="Rectangle 8"/>
          <p:cNvSpPr/>
          <p:nvPr/>
        </p:nvSpPr>
        <p:spPr>
          <a:xfrm>
            <a:off x="1097280" y="2670048"/>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944368"/>
            <a:ext cx="16093440" cy="731520"/>
          </a:xfrm>
          <a:prstGeom prst="rect">
            <a:avLst/>
          </a:prstGeom>
          <a:noFill/>
        </p:spPr>
        <p:txBody>
          <a:bodyPr wrap="square">
            <a:spAutoFit/>
          </a:bodyPr>
          <a:lstStyle/>
          <a:p>
            <a:pPr algn="l"/>
            <a:r>
              <a:rPr sz="1500" b="0" i="1">
                <a:solidFill>
                  <a:srgbClr val="545464"/>
                </a:solidFill>
                <a:latin typeface="Calibri"/>
              </a:rPr>
              <a:t>ProjectPulse is an intelligent, real-time project monitoring platform that integrates with your existing toolchain and applies AI and NLP to transform raw project activity into proactive, actionable intelligence. Unlike dashboards that show what happened, ProjectPulse tells you what will happen next — and what to do about it.</a:t>
            </a:r>
          </a:p>
        </p:txBody>
      </p:sp>
      <p:sp>
        <p:nvSpPr>
          <p:cNvPr id="11" name="Rectangle 10"/>
          <p:cNvSpPr/>
          <p:nvPr/>
        </p:nvSpPr>
        <p:spPr>
          <a:xfrm>
            <a:off x="1097280" y="3822191"/>
            <a:ext cx="7863840" cy="263347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3822191"/>
            <a:ext cx="786384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950207"/>
            <a:ext cx="7406640" cy="438912"/>
          </a:xfrm>
          <a:prstGeom prst="rect">
            <a:avLst/>
          </a:prstGeom>
          <a:noFill/>
        </p:spPr>
        <p:txBody>
          <a:bodyPr wrap="square">
            <a:spAutoFit/>
          </a:bodyPr>
          <a:lstStyle/>
          <a:p>
            <a:pPr algn="l"/>
            <a:r>
              <a:rPr sz="1500" b="1" i="0">
                <a:solidFill>
                  <a:srgbClr val="0C386E"/>
                </a:solidFill>
                <a:latin typeface="Calibri"/>
              </a:rPr>
              <a:t>01   CONNECT</a:t>
            </a:r>
          </a:p>
        </p:txBody>
      </p:sp>
      <p:sp>
        <p:nvSpPr>
          <p:cNvPr id="14" name="TextBox 13"/>
          <p:cNvSpPr txBox="1"/>
          <p:nvPr/>
        </p:nvSpPr>
        <p:spPr>
          <a:xfrm>
            <a:off x="1325880" y="4434840"/>
            <a:ext cx="7406640" cy="1920240"/>
          </a:xfrm>
          <a:prstGeom prst="rect">
            <a:avLst/>
          </a:prstGeom>
          <a:noFill/>
        </p:spPr>
        <p:txBody>
          <a:bodyPr wrap="square">
            <a:spAutoFit/>
          </a:bodyPr>
          <a:lstStyle/>
          <a:p>
            <a:pPr algn="l"/>
            <a:r>
              <a:rPr sz="1300" b="0" i="0">
                <a:solidFill>
                  <a:srgbClr val="1C1C2C"/>
                </a:solidFill>
                <a:latin typeface="Calibri"/>
              </a:rPr>
              <a:t>Integrates with Jira, Slack, GitHub, Trello, Asana, Linear &amp; Microsoft Teams via secure OAuth 2.0. No migration or workflow changes required. Teams are onboarded in under 15 minutes with read-only, fully auditable data access.</a:t>
            </a:r>
          </a:p>
        </p:txBody>
      </p:sp>
      <p:sp>
        <p:nvSpPr>
          <p:cNvPr id="15" name="Rectangle 14"/>
          <p:cNvSpPr/>
          <p:nvPr/>
        </p:nvSpPr>
        <p:spPr>
          <a:xfrm>
            <a:off x="9326880" y="3822191"/>
            <a:ext cx="7863840" cy="263347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3822191"/>
            <a:ext cx="786384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3950207"/>
            <a:ext cx="7406640" cy="438912"/>
          </a:xfrm>
          <a:prstGeom prst="rect">
            <a:avLst/>
          </a:prstGeom>
          <a:noFill/>
        </p:spPr>
        <p:txBody>
          <a:bodyPr wrap="square">
            <a:spAutoFit/>
          </a:bodyPr>
          <a:lstStyle/>
          <a:p>
            <a:pPr algn="l"/>
            <a:r>
              <a:rPr sz="1500" b="1" i="0">
                <a:solidFill>
                  <a:srgbClr val="0C386E"/>
                </a:solidFill>
                <a:latin typeface="Calibri"/>
              </a:rPr>
              <a:t>02   ANALYZE</a:t>
            </a:r>
          </a:p>
        </p:txBody>
      </p:sp>
      <p:sp>
        <p:nvSpPr>
          <p:cNvPr id="18" name="TextBox 17"/>
          <p:cNvSpPr txBox="1"/>
          <p:nvPr/>
        </p:nvSpPr>
        <p:spPr>
          <a:xfrm>
            <a:off x="9555480" y="4434840"/>
            <a:ext cx="7406640" cy="1920240"/>
          </a:xfrm>
          <a:prstGeom prst="rect">
            <a:avLst/>
          </a:prstGeom>
          <a:noFill/>
        </p:spPr>
        <p:txBody>
          <a:bodyPr wrap="square">
            <a:spAutoFit/>
          </a:bodyPr>
          <a:lstStyle/>
          <a:p>
            <a:pPr algn="l"/>
            <a:r>
              <a:rPr sz="1300" b="0" i="0">
                <a:solidFill>
                  <a:srgbClr val="1C1C2C"/>
                </a:solidFill>
                <a:latin typeface="Calibri"/>
              </a:rPr>
              <a:t>AI engine continuously processes task updates, sprint velocity, communication data, and workload distribution 24/7. Builds a live dynamic model of project health, team capacity, dependency chains, and delivery risk across all active projects.</a:t>
            </a:r>
          </a:p>
        </p:txBody>
      </p:sp>
      <p:sp>
        <p:nvSpPr>
          <p:cNvPr id="19" name="Rectangle 18"/>
          <p:cNvSpPr/>
          <p:nvPr/>
        </p:nvSpPr>
        <p:spPr>
          <a:xfrm>
            <a:off x="1097280" y="6656831"/>
            <a:ext cx="7863840" cy="263347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80" y="6656831"/>
            <a:ext cx="786384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784847"/>
            <a:ext cx="7406640" cy="438912"/>
          </a:xfrm>
          <a:prstGeom prst="rect">
            <a:avLst/>
          </a:prstGeom>
          <a:noFill/>
        </p:spPr>
        <p:txBody>
          <a:bodyPr wrap="square">
            <a:spAutoFit/>
          </a:bodyPr>
          <a:lstStyle/>
          <a:p>
            <a:pPr algn="l"/>
            <a:r>
              <a:rPr sz="1500" b="1" i="0">
                <a:solidFill>
                  <a:srgbClr val="0C386E"/>
                </a:solidFill>
                <a:latin typeface="Calibri"/>
              </a:rPr>
              <a:t>03   DETECT</a:t>
            </a:r>
          </a:p>
        </p:txBody>
      </p:sp>
      <p:sp>
        <p:nvSpPr>
          <p:cNvPr id="22" name="TextBox 21"/>
          <p:cNvSpPr txBox="1"/>
          <p:nvPr/>
        </p:nvSpPr>
        <p:spPr>
          <a:xfrm>
            <a:off x="1325880" y="7269479"/>
            <a:ext cx="7406640" cy="1920240"/>
          </a:xfrm>
          <a:prstGeom prst="rect">
            <a:avLst/>
          </a:prstGeom>
          <a:noFill/>
        </p:spPr>
        <p:txBody>
          <a:bodyPr wrap="square">
            <a:spAutoFit/>
          </a:bodyPr>
          <a:lstStyle/>
          <a:p>
            <a:pPr algn="l"/>
            <a:r>
              <a:rPr sz="1300" b="0" i="0">
                <a:solidFill>
                  <a:srgbClr val="1C1C2C"/>
                </a:solidFill>
                <a:latin typeface="Calibri"/>
              </a:rPr>
              <a:t>NLP models classify messages in Slack/Teams to surface hidden blockers automatically. ML risk models predict delivery delays 3–7 days in advance. Workload imbalance detection flags overloaded members before burnout or slip occurs.</a:t>
            </a:r>
          </a:p>
        </p:txBody>
      </p:sp>
      <p:sp>
        <p:nvSpPr>
          <p:cNvPr id="23" name="Rectangle 22"/>
          <p:cNvSpPr/>
          <p:nvPr/>
        </p:nvSpPr>
        <p:spPr>
          <a:xfrm>
            <a:off x="9326880" y="6656831"/>
            <a:ext cx="7863840" cy="263347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26880" y="6656831"/>
            <a:ext cx="786384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55480" y="6784847"/>
            <a:ext cx="7406640" cy="438912"/>
          </a:xfrm>
          <a:prstGeom prst="rect">
            <a:avLst/>
          </a:prstGeom>
          <a:noFill/>
        </p:spPr>
        <p:txBody>
          <a:bodyPr wrap="square">
            <a:spAutoFit/>
          </a:bodyPr>
          <a:lstStyle/>
          <a:p>
            <a:pPr algn="l"/>
            <a:r>
              <a:rPr sz="1500" b="1" i="0">
                <a:solidFill>
                  <a:srgbClr val="0C386E"/>
                </a:solidFill>
                <a:latin typeface="Calibri"/>
              </a:rPr>
              <a:t>04   ALERT</a:t>
            </a:r>
          </a:p>
        </p:txBody>
      </p:sp>
      <p:sp>
        <p:nvSpPr>
          <p:cNvPr id="26" name="TextBox 25"/>
          <p:cNvSpPr txBox="1"/>
          <p:nvPr/>
        </p:nvSpPr>
        <p:spPr>
          <a:xfrm>
            <a:off x="9555480" y="7269479"/>
            <a:ext cx="7406640" cy="1920240"/>
          </a:xfrm>
          <a:prstGeom prst="rect">
            <a:avLst/>
          </a:prstGeom>
          <a:noFill/>
        </p:spPr>
        <p:txBody>
          <a:bodyPr wrap="square">
            <a:spAutoFit/>
          </a:bodyPr>
          <a:lstStyle/>
          <a:p>
            <a:pPr algn="l"/>
            <a:r>
              <a:rPr sz="1300" b="0" i="0">
                <a:solidFill>
                  <a:srgbClr val="1C1C2C"/>
                </a:solidFill>
                <a:latin typeface="Calibri"/>
              </a:rPr>
              <a:t>Delivers targeted, priority-ranked alerts to the right person on the right channel. AI generates daily project health summaries and weekly executive reports automatically — replacing manual status compilations entirely. Recommended corrective actions included.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p:cNvGrpSpPr/>
        <p:nvPr/>
      </p:nvGrpSpPr>
      <p:grpSpPr>
        <a:xfrm>
          <a:off x="0" y="0"/>
          <a:ext cx="0" cy="0"/>
          <a:chOff x="0" y="0"/>
          <a:chExt cx="0" cy="0"/>
        </a:xfrm>
      </p:grpSpPr>
      <p:sp>
        <p:nvSpPr>
          <p:cNvPr id="2" name="Freeform 2"/>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sp>
      <p:sp>
        <p:nvSpPr>
          <p:cNvPr id="6" name="Freeform 6"/>
          <p:cNvSpPr/>
          <p:nvPr/>
        </p:nvSpPr>
        <p:spPr>
          <a:xfrm rot="10357998" flipH="1">
            <a:off x="8037368" y="-5185412"/>
            <a:ext cx="12612839" cy="8135281"/>
          </a:xfrm>
          <a:custGeom>
            <a:avLst/>
            <a:gdLst/>
            <a:ahLst/>
            <a:cxnLst/>
            <a:rect l="l" t="t" r="r" b="b"/>
            <a:pathLst>
              <a:path w="12612839" h="8135281">
                <a:moveTo>
                  <a:pt x="12612839" y="0"/>
                </a:moveTo>
                <a:lnTo>
                  <a:pt x="0" y="0"/>
                </a:lnTo>
                <a:lnTo>
                  <a:pt x="0" y="8135280"/>
                </a:lnTo>
                <a:lnTo>
                  <a:pt x="12612839" y="8135280"/>
                </a:lnTo>
                <a:lnTo>
                  <a:pt x="12612839" y="0"/>
                </a:lnTo>
                <a:close/>
              </a:path>
            </a:pathLst>
          </a:custGeom>
          <a:blipFill>
            <a:blip r:embed="rId3"/>
            <a:stretch>
              <a:fillRect/>
            </a:stretch>
          </a:blipFill>
        </p:spPr>
      </p:sp>
      <p:sp>
        <p:nvSpPr>
          <p:cNvPr id="7" name="Freeform 7"/>
          <p:cNvSpPr/>
          <p:nvPr/>
        </p:nvSpPr>
        <p:spPr>
          <a:xfrm rot="-10241977">
            <a:off x="-1480343" y="-4432981"/>
            <a:ext cx="11305800" cy="7292241"/>
          </a:xfrm>
          <a:custGeom>
            <a:avLst/>
            <a:gdLst/>
            <a:ahLst/>
            <a:cxnLst/>
            <a:rect l="l" t="t" r="r" b="b"/>
            <a:pathLst>
              <a:path w="11305800" h="7292241">
                <a:moveTo>
                  <a:pt x="0" y="0"/>
                </a:moveTo>
                <a:lnTo>
                  <a:pt x="11305801" y="0"/>
                </a:lnTo>
                <a:lnTo>
                  <a:pt x="11305801" y="7292241"/>
                </a:lnTo>
                <a:lnTo>
                  <a:pt x="0" y="7292241"/>
                </a:lnTo>
                <a:lnTo>
                  <a:pt x="0" y="0"/>
                </a:lnTo>
                <a:close/>
              </a:path>
            </a:pathLst>
          </a:custGeom>
          <a:blipFill>
            <a:blip r:embed="rId3"/>
            <a:stretch>
              <a:fillRect/>
            </a:stretch>
          </a:blipFill>
        </p:spPr>
      </p:sp>
      <p:sp>
        <p:nvSpPr>
          <p:cNvPr id="8" name="Freeform 8"/>
          <p:cNvSpPr/>
          <p:nvPr/>
        </p:nvSpPr>
        <p:spPr>
          <a:xfrm>
            <a:off x="16395852" y="321662"/>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4"/>
            <a:stretch>
              <a:fillRect/>
            </a:stretch>
          </a:blipFill>
        </p:spPr>
      </p:sp>
      <p:sp>
        <p:nvSpPr>
          <p:cNvPr id="9" name="TextBox 8"/>
          <p:cNvSpPr txBox="1"/>
          <p:nvPr/>
        </p:nvSpPr>
        <p:spPr>
          <a:xfrm>
            <a:off x="1097280" y="1371600"/>
            <a:ext cx="16093440" cy="411480"/>
          </a:xfrm>
          <a:prstGeom prst="rect">
            <a:avLst/>
          </a:prstGeom>
          <a:noFill/>
        </p:spPr>
        <p:txBody>
          <a:bodyPr wrap="square">
            <a:spAutoFit/>
          </a:bodyPr>
          <a:lstStyle/>
          <a:p>
            <a:pPr algn="l"/>
            <a:r>
              <a:rPr sz="1200" b="1" i="0">
                <a:solidFill>
                  <a:srgbClr val="0C386E"/>
                </a:solidFill>
                <a:latin typeface="Calibri"/>
              </a:rPr>
              <a:t>KEY FEATURES &amp; INNOVATION</a:t>
            </a:r>
          </a:p>
        </p:txBody>
      </p:sp>
      <p:sp>
        <p:nvSpPr>
          <p:cNvPr id="10" name="TextBox 9"/>
          <p:cNvSpPr txBox="1"/>
          <p:nvPr/>
        </p:nvSpPr>
        <p:spPr>
          <a:xfrm>
            <a:off x="1097280" y="1755648"/>
            <a:ext cx="16093440" cy="868680"/>
          </a:xfrm>
          <a:prstGeom prst="rect">
            <a:avLst/>
          </a:prstGeom>
          <a:noFill/>
        </p:spPr>
        <p:txBody>
          <a:bodyPr wrap="square">
            <a:spAutoFit/>
          </a:bodyPr>
          <a:lstStyle/>
          <a:p>
            <a:pPr algn="l"/>
            <a:r>
              <a:rPr sz="3000" b="1" i="0">
                <a:solidFill>
                  <a:srgbClr val="1C1C2C"/>
                </a:solidFill>
                <a:latin typeface="Calibri"/>
              </a:rPr>
              <a:t>Six Pillars of Intelligent Project Monitoring</a:t>
            </a:r>
          </a:p>
        </p:txBody>
      </p:sp>
      <p:sp>
        <p:nvSpPr>
          <p:cNvPr id="11" name="Rectangle 10"/>
          <p:cNvSpPr/>
          <p:nvPr/>
        </p:nvSpPr>
        <p:spPr>
          <a:xfrm>
            <a:off x="1097280" y="2670048"/>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2816352"/>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2944368"/>
            <a:ext cx="4840224" cy="457200"/>
          </a:xfrm>
          <a:prstGeom prst="rect">
            <a:avLst/>
          </a:prstGeom>
          <a:noFill/>
        </p:spPr>
        <p:txBody>
          <a:bodyPr wrap="square">
            <a:spAutoFit/>
          </a:bodyPr>
          <a:lstStyle/>
          <a:p>
            <a:pPr algn="l"/>
            <a:r>
              <a:rPr sz="1400" b="1" i="0">
                <a:solidFill>
                  <a:srgbClr val="1C1C2C"/>
                </a:solidFill>
                <a:latin typeface="Calibri"/>
              </a:rPr>
              <a:t>Real-time Task Monitoring</a:t>
            </a:r>
          </a:p>
        </p:txBody>
      </p:sp>
      <p:sp>
        <p:nvSpPr>
          <p:cNvPr id="15" name="TextBox 14"/>
          <p:cNvSpPr txBox="1"/>
          <p:nvPr/>
        </p:nvSpPr>
        <p:spPr>
          <a:xfrm>
            <a:off x="1298448" y="3456432"/>
            <a:ext cx="4840224" cy="2514600"/>
          </a:xfrm>
          <a:prstGeom prst="rect">
            <a:avLst/>
          </a:prstGeom>
          <a:noFill/>
        </p:spPr>
        <p:txBody>
          <a:bodyPr wrap="square">
            <a:spAutoFit/>
          </a:bodyPr>
          <a:lstStyle/>
          <a:p>
            <a:pPr algn="l"/>
            <a:r>
              <a:rPr sz="1250" b="0" i="0">
                <a:solidFill>
                  <a:srgbClr val="1C1C2C"/>
                </a:solidFill>
                <a:latin typeface="Calibri"/>
              </a:rPr>
              <a:t>Continuously tracks task status, assignees, deadlines, and sprint progress across Jira, GitHub, Trello, and Asana without any manual input. Provides a unified, always-current view of every ongoing work item and its health status.</a:t>
            </a:r>
          </a:p>
        </p:txBody>
      </p:sp>
      <p:sp>
        <p:nvSpPr>
          <p:cNvPr id="16" name="Rectangle 15"/>
          <p:cNvSpPr/>
          <p:nvPr/>
        </p:nvSpPr>
        <p:spPr>
          <a:xfrm>
            <a:off x="6522720" y="2816352"/>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2272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3888" y="2944368"/>
            <a:ext cx="4840224" cy="457200"/>
          </a:xfrm>
          <a:prstGeom prst="rect">
            <a:avLst/>
          </a:prstGeom>
          <a:noFill/>
        </p:spPr>
        <p:txBody>
          <a:bodyPr wrap="square">
            <a:spAutoFit/>
          </a:bodyPr>
          <a:lstStyle/>
          <a:p>
            <a:pPr algn="l"/>
            <a:r>
              <a:rPr sz="1400" b="1" i="0">
                <a:solidFill>
                  <a:srgbClr val="1C1C2C"/>
                </a:solidFill>
                <a:latin typeface="Calibri"/>
              </a:rPr>
              <a:t>AI Risk Detection</a:t>
            </a:r>
          </a:p>
        </p:txBody>
      </p:sp>
      <p:sp>
        <p:nvSpPr>
          <p:cNvPr id="19" name="TextBox 18"/>
          <p:cNvSpPr txBox="1"/>
          <p:nvPr/>
        </p:nvSpPr>
        <p:spPr>
          <a:xfrm>
            <a:off x="6723888" y="3456432"/>
            <a:ext cx="4840224" cy="2514600"/>
          </a:xfrm>
          <a:prstGeom prst="rect">
            <a:avLst/>
          </a:prstGeom>
          <a:noFill/>
        </p:spPr>
        <p:txBody>
          <a:bodyPr wrap="square">
            <a:spAutoFit/>
          </a:bodyPr>
          <a:lstStyle/>
          <a:p>
            <a:pPr algn="l"/>
            <a:r>
              <a:rPr sz="1250" b="0" i="0">
                <a:solidFill>
                  <a:srgbClr val="1C1C2C"/>
                </a:solidFill>
                <a:latin typeface="Calibri"/>
              </a:rPr>
              <a:t>ML models trained on project history analyse velocity trends, deadline proximity, and dependency chains to surface delivery risks 3–7 days before they materialise. Confidence-scored predictions allow teams to prioritise interventions effectively.</a:t>
            </a:r>
          </a:p>
        </p:txBody>
      </p:sp>
      <p:sp>
        <p:nvSpPr>
          <p:cNvPr id="20" name="Rectangle 19"/>
          <p:cNvSpPr/>
          <p:nvPr/>
        </p:nvSpPr>
        <p:spPr>
          <a:xfrm>
            <a:off x="11948160" y="2816352"/>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94816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149328" y="2944368"/>
            <a:ext cx="4840224" cy="457200"/>
          </a:xfrm>
          <a:prstGeom prst="rect">
            <a:avLst/>
          </a:prstGeom>
          <a:noFill/>
        </p:spPr>
        <p:txBody>
          <a:bodyPr wrap="square">
            <a:spAutoFit/>
          </a:bodyPr>
          <a:lstStyle/>
          <a:p>
            <a:pPr algn="l"/>
            <a:r>
              <a:rPr sz="1400" b="1" i="0">
                <a:solidFill>
                  <a:srgbClr val="1C1C2C"/>
                </a:solidFill>
                <a:latin typeface="Calibri"/>
              </a:rPr>
              <a:t>Blocker Identification</a:t>
            </a:r>
          </a:p>
        </p:txBody>
      </p:sp>
      <p:sp>
        <p:nvSpPr>
          <p:cNvPr id="23" name="TextBox 22"/>
          <p:cNvSpPr txBox="1"/>
          <p:nvPr/>
        </p:nvSpPr>
        <p:spPr>
          <a:xfrm>
            <a:off x="12149328" y="3456432"/>
            <a:ext cx="4840224" cy="2514600"/>
          </a:xfrm>
          <a:prstGeom prst="rect">
            <a:avLst/>
          </a:prstGeom>
          <a:noFill/>
        </p:spPr>
        <p:txBody>
          <a:bodyPr wrap="square">
            <a:spAutoFit/>
          </a:bodyPr>
          <a:lstStyle/>
          <a:p>
            <a:pPr algn="l"/>
            <a:r>
              <a:rPr sz="1250" b="0" i="0">
                <a:solidFill>
                  <a:srgbClr val="1C1C2C"/>
                </a:solidFill>
                <a:latin typeface="Calibri"/>
              </a:rPr>
              <a:t>NLP engine classifies Slack and Teams messages in real time, automatically detecting blockers, escalations, and stalled decisions buried in threads. Blocker reports are routed to the right owner with suggested resolution paths.</a:t>
            </a:r>
          </a:p>
        </p:txBody>
      </p:sp>
      <p:sp>
        <p:nvSpPr>
          <p:cNvPr id="24" name="Rectangle 23"/>
          <p:cNvSpPr/>
          <p:nvPr/>
        </p:nvSpPr>
        <p:spPr>
          <a:xfrm>
            <a:off x="1097280" y="6309360"/>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7280" y="6309360"/>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 y="6437376"/>
            <a:ext cx="4840224" cy="457200"/>
          </a:xfrm>
          <a:prstGeom prst="rect">
            <a:avLst/>
          </a:prstGeom>
          <a:noFill/>
        </p:spPr>
        <p:txBody>
          <a:bodyPr wrap="square">
            <a:spAutoFit/>
          </a:bodyPr>
          <a:lstStyle/>
          <a:p>
            <a:pPr algn="l"/>
            <a:r>
              <a:rPr sz="1400" b="1" i="0">
                <a:solidFill>
                  <a:srgbClr val="1C1C2C"/>
                </a:solidFill>
                <a:latin typeface="Calibri"/>
              </a:rPr>
              <a:t>Workload Balancing</a:t>
            </a:r>
          </a:p>
        </p:txBody>
      </p:sp>
      <p:sp>
        <p:nvSpPr>
          <p:cNvPr id="27" name="TextBox 26"/>
          <p:cNvSpPr txBox="1"/>
          <p:nvPr/>
        </p:nvSpPr>
        <p:spPr>
          <a:xfrm>
            <a:off x="1298448" y="6949440"/>
            <a:ext cx="4840224" cy="2514600"/>
          </a:xfrm>
          <a:prstGeom prst="rect">
            <a:avLst/>
          </a:prstGeom>
          <a:noFill/>
        </p:spPr>
        <p:txBody>
          <a:bodyPr wrap="square">
            <a:spAutoFit/>
          </a:bodyPr>
          <a:lstStyle/>
          <a:p>
            <a:pPr algn="l"/>
            <a:r>
              <a:rPr sz="1250" b="0" i="0">
                <a:solidFill>
                  <a:srgbClr val="1C1C2C"/>
                </a:solidFill>
                <a:latin typeface="Calibri"/>
              </a:rPr>
              <a:t>Dynamic workload heatmaps visualise task load per team member against capacity. Overload alerts fire when a member exceeds safe utilisation thresholds, with AI-suggested task redistribution to maintain delivery momentum.</a:t>
            </a:r>
          </a:p>
        </p:txBody>
      </p:sp>
      <p:sp>
        <p:nvSpPr>
          <p:cNvPr id="28" name="Rectangle 27"/>
          <p:cNvSpPr/>
          <p:nvPr/>
        </p:nvSpPr>
        <p:spPr>
          <a:xfrm>
            <a:off x="6522720" y="6309360"/>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22720" y="6309360"/>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3888" y="6437376"/>
            <a:ext cx="4840224" cy="457200"/>
          </a:xfrm>
          <a:prstGeom prst="rect">
            <a:avLst/>
          </a:prstGeom>
          <a:noFill/>
        </p:spPr>
        <p:txBody>
          <a:bodyPr wrap="square">
            <a:spAutoFit/>
          </a:bodyPr>
          <a:lstStyle/>
          <a:p>
            <a:pPr algn="l"/>
            <a:r>
              <a:rPr sz="1400" b="1" i="0">
                <a:solidFill>
                  <a:srgbClr val="1C1C2C"/>
                </a:solidFill>
                <a:latin typeface="Calibri"/>
              </a:rPr>
              <a:t>Automated Health Reports</a:t>
            </a:r>
          </a:p>
        </p:txBody>
      </p:sp>
      <p:sp>
        <p:nvSpPr>
          <p:cNvPr id="31" name="TextBox 30"/>
          <p:cNvSpPr txBox="1"/>
          <p:nvPr/>
        </p:nvSpPr>
        <p:spPr>
          <a:xfrm>
            <a:off x="6723888" y="6949440"/>
            <a:ext cx="4840224" cy="2514600"/>
          </a:xfrm>
          <a:prstGeom prst="rect">
            <a:avLst/>
          </a:prstGeom>
          <a:noFill/>
        </p:spPr>
        <p:txBody>
          <a:bodyPr wrap="square">
            <a:spAutoFit/>
          </a:bodyPr>
          <a:lstStyle/>
          <a:p>
            <a:pPr algn="l"/>
            <a:r>
              <a:rPr sz="1250" b="0" i="0">
                <a:solidFill>
                  <a:srgbClr val="1C1C2C"/>
                </a:solidFill>
                <a:latin typeface="Calibri"/>
              </a:rPr>
              <a:t>AI synthesises task data, risk signals, and blocker status into daily project health summaries and weekly executive reports delivered automatically. Eliminates the need for manual status compilation entirely — saving hours per week per PM.</a:t>
            </a:r>
          </a:p>
        </p:txBody>
      </p:sp>
      <p:sp>
        <p:nvSpPr>
          <p:cNvPr id="32" name="Rectangle 31"/>
          <p:cNvSpPr/>
          <p:nvPr/>
        </p:nvSpPr>
        <p:spPr>
          <a:xfrm>
            <a:off x="11948160" y="6309360"/>
            <a:ext cx="5242560" cy="3273552"/>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948160" y="6309360"/>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149328" y="6437376"/>
            <a:ext cx="4840224" cy="457200"/>
          </a:xfrm>
          <a:prstGeom prst="rect">
            <a:avLst/>
          </a:prstGeom>
          <a:noFill/>
        </p:spPr>
        <p:txBody>
          <a:bodyPr wrap="square">
            <a:spAutoFit/>
          </a:bodyPr>
          <a:lstStyle/>
          <a:p>
            <a:pPr algn="l"/>
            <a:r>
              <a:rPr sz="1400" b="1" i="0">
                <a:solidFill>
                  <a:srgbClr val="1C1C2C"/>
                </a:solidFill>
                <a:latin typeface="Calibri"/>
              </a:rPr>
              <a:t>Smart Alerts &amp; Nudges</a:t>
            </a:r>
          </a:p>
        </p:txBody>
      </p:sp>
      <p:sp>
        <p:nvSpPr>
          <p:cNvPr id="35" name="TextBox 34"/>
          <p:cNvSpPr txBox="1"/>
          <p:nvPr/>
        </p:nvSpPr>
        <p:spPr>
          <a:xfrm>
            <a:off x="12149328" y="6949440"/>
            <a:ext cx="4840224" cy="2514600"/>
          </a:xfrm>
          <a:prstGeom prst="rect">
            <a:avLst/>
          </a:prstGeom>
          <a:noFill/>
        </p:spPr>
        <p:txBody>
          <a:bodyPr wrap="square">
            <a:spAutoFit/>
          </a:bodyPr>
          <a:lstStyle/>
          <a:p>
            <a:pPr algn="l"/>
            <a:r>
              <a:rPr sz="1250" b="0" i="0">
                <a:solidFill>
                  <a:srgbClr val="1C1C2C"/>
                </a:solidFill>
                <a:latin typeface="Calibri"/>
              </a:rPr>
              <a:t>Context-aware, priority-ranked alerts are routed to the right person on the right channel (Slack, email, or in-app) at the right time. Nudges include actionable recommendations — not just notifications — to drive immediate corrective action.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a:extLst>
            <a:ext uri="{FF2B5EF4-FFF2-40B4-BE49-F238E27FC236}">
              <a16:creationId xmlns:a16="http://schemas.microsoft.com/office/drawing/2014/main" id="{4D72A7B6-523E-4C95-0284-B44AFCD73EE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4FEE185-1C25-1F6E-6BCE-781E9B4514C1}"/>
              </a:ext>
            </a:extLst>
          </p:cNvPr>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sp>
      <p:sp>
        <p:nvSpPr>
          <p:cNvPr id="6" name="Freeform 6">
            <a:extLst>
              <a:ext uri="{FF2B5EF4-FFF2-40B4-BE49-F238E27FC236}">
                <a16:creationId xmlns:a16="http://schemas.microsoft.com/office/drawing/2014/main" id="{D986A8B0-2B6B-1A93-EAC1-8D257526156D}"/>
              </a:ext>
            </a:extLst>
          </p:cNvPr>
          <p:cNvSpPr/>
          <p:nvPr/>
        </p:nvSpPr>
        <p:spPr>
          <a:xfrm rot="10357998" flipH="1">
            <a:off x="8037368" y="-5185412"/>
            <a:ext cx="12612839" cy="8135281"/>
          </a:xfrm>
          <a:custGeom>
            <a:avLst/>
            <a:gdLst/>
            <a:ahLst/>
            <a:cxnLst/>
            <a:rect l="l" t="t" r="r" b="b"/>
            <a:pathLst>
              <a:path w="12612839" h="8135281">
                <a:moveTo>
                  <a:pt x="12612839" y="0"/>
                </a:moveTo>
                <a:lnTo>
                  <a:pt x="0" y="0"/>
                </a:lnTo>
                <a:lnTo>
                  <a:pt x="0" y="8135280"/>
                </a:lnTo>
                <a:lnTo>
                  <a:pt x="12612839" y="8135280"/>
                </a:lnTo>
                <a:lnTo>
                  <a:pt x="12612839" y="0"/>
                </a:lnTo>
                <a:close/>
              </a:path>
            </a:pathLst>
          </a:custGeom>
          <a:blipFill>
            <a:blip r:embed="rId3"/>
            <a:stretch>
              <a:fillRect/>
            </a:stretch>
          </a:blipFill>
        </p:spPr>
      </p:sp>
      <p:sp>
        <p:nvSpPr>
          <p:cNvPr id="7" name="Freeform 7">
            <a:extLst>
              <a:ext uri="{FF2B5EF4-FFF2-40B4-BE49-F238E27FC236}">
                <a16:creationId xmlns:a16="http://schemas.microsoft.com/office/drawing/2014/main" id="{0151FA0E-0030-AAE2-9955-038DA26CCE6C}"/>
              </a:ext>
            </a:extLst>
          </p:cNvPr>
          <p:cNvSpPr/>
          <p:nvPr/>
        </p:nvSpPr>
        <p:spPr>
          <a:xfrm rot="-10241977">
            <a:off x="-1480343" y="-4432981"/>
            <a:ext cx="11305800" cy="7292241"/>
          </a:xfrm>
          <a:custGeom>
            <a:avLst/>
            <a:gdLst/>
            <a:ahLst/>
            <a:cxnLst/>
            <a:rect l="l" t="t" r="r" b="b"/>
            <a:pathLst>
              <a:path w="11305800" h="7292241">
                <a:moveTo>
                  <a:pt x="0" y="0"/>
                </a:moveTo>
                <a:lnTo>
                  <a:pt x="11305801" y="0"/>
                </a:lnTo>
                <a:lnTo>
                  <a:pt x="11305801" y="7292241"/>
                </a:lnTo>
                <a:lnTo>
                  <a:pt x="0" y="7292241"/>
                </a:lnTo>
                <a:lnTo>
                  <a:pt x="0" y="0"/>
                </a:lnTo>
                <a:close/>
              </a:path>
            </a:pathLst>
          </a:custGeom>
          <a:blipFill>
            <a:blip r:embed="rId3"/>
            <a:stretch>
              <a:fillRect/>
            </a:stretch>
          </a:blipFill>
        </p:spPr>
      </p:sp>
      <p:sp>
        <p:nvSpPr>
          <p:cNvPr id="8" name="Freeform 8">
            <a:extLst>
              <a:ext uri="{FF2B5EF4-FFF2-40B4-BE49-F238E27FC236}">
                <a16:creationId xmlns:a16="http://schemas.microsoft.com/office/drawing/2014/main" id="{2DFEBE30-FE3E-881D-1C9C-277D5F1AC313}"/>
              </a:ext>
            </a:extLst>
          </p:cNvPr>
          <p:cNvSpPr/>
          <p:nvPr/>
        </p:nvSpPr>
        <p:spPr>
          <a:xfrm>
            <a:off x="16395852" y="321662"/>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4"/>
            <a:stretch>
              <a:fillRect/>
            </a:stretch>
          </a:blipFill>
        </p:spPr>
      </p:sp>
      <p:sp>
        <p:nvSpPr>
          <p:cNvPr id="9" name="TextBox 8"/>
          <p:cNvSpPr txBox="1"/>
          <p:nvPr/>
        </p:nvSpPr>
        <p:spPr>
          <a:xfrm>
            <a:off x="1097280" y="1371600"/>
            <a:ext cx="16093440" cy="411480"/>
          </a:xfrm>
          <a:prstGeom prst="rect">
            <a:avLst/>
          </a:prstGeom>
          <a:noFill/>
        </p:spPr>
        <p:txBody>
          <a:bodyPr wrap="square">
            <a:spAutoFit/>
          </a:bodyPr>
          <a:lstStyle/>
          <a:p>
            <a:pPr algn="l"/>
            <a:r>
              <a:rPr sz="1200" b="1" i="0">
                <a:solidFill>
                  <a:srgbClr val="0C386E"/>
                </a:solidFill>
                <a:latin typeface="Calibri"/>
              </a:rPr>
              <a:t>EXPECTED IMPACT &amp; BENEFICIARIES</a:t>
            </a:r>
          </a:p>
        </p:txBody>
      </p:sp>
      <p:sp>
        <p:nvSpPr>
          <p:cNvPr id="10" name="TextBox 9"/>
          <p:cNvSpPr txBox="1"/>
          <p:nvPr/>
        </p:nvSpPr>
        <p:spPr>
          <a:xfrm>
            <a:off x="1097280" y="1755648"/>
            <a:ext cx="16093440" cy="868680"/>
          </a:xfrm>
          <a:prstGeom prst="rect">
            <a:avLst/>
          </a:prstGeom>
          <a:noFill/>
        </p:spPr>
        <p:txBody>
          <a:bodyPr wrap="square">
            <a:spAutoFit/>
          </a:bodyPr>
          <a:lstStyle/>
          <a:p>
            <a:pPr algn="l"/>
            <a:r>
              <a:rPr sz="3000" b="1" i="0">
                <a:solidFill>
                  <a:srgbClr val="1C1C2C"/>
                </a:solidFill>
                <a:latin typeface="Calibri"/>
              </a:rPr>
              <a:t>Measurable Outcomes and Who Benefits</a:t>
            </a:r>
          </a:p>
        </p:txBody>
      </p:sp>
      <p:sp>
        <p:nvSpPr>
          <p:cNvPr id="11" name="Rectangle 10"/>
          <p:cNvSpPr/>
          <p:nvPr/>
        </p:nvSpPr>
        <p:spPr>
          <a:xfrm>
            <a:off x="1097280" y="2670048"/>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2816352"/>
            <a:ext cx="3931920" cy="233172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2816352"/>
            <a:ext cx="393192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907792"/>
            <a:ext cx="3566160" cy="841248"/>
          </a:xfrm>
          <a:prstGeom prst="rect">
            <a:avLst/>
          </a:prstGeom>
          <a:noFill/>
        </p:spPr>
        <p:txBody>
          <a:bodyPr wrap="square">
            <a:spAutoFit/>
          </a:bodyPr>
          <a:lstStyle/>
          <a:p>
            <a:pPr algn="l"/>
            <a:r>
              <a:rPr sz="4000" b="1" i="0">
                <a:solidFill>
                  <a:srgbClr val="1C1C2C"/>
                </a:solidFill>
                <a:latin typeface="Calibri"/>
              </a:rPr>
              <a:t>↓ 40%</a:t>
            </a:r>
          </a:p>
        </p:txBody>
      </p:sp>
      <p:sp>
        <p:nvSpPr>
          <p:cNvPr id="15" name="TextBox 14"/>
          <p:cNvSpPr txBox="1"/>
          <p:nvPr/>
        </p:nvSpPr>
        <p:spPr>
          <a:xfrm>
            <a:off x="1280160" y="3767328"/>
            <a:ext cx="3566160" cy="685800"/>
          </a:xfrm>
          <a:prstGeom prst="rect">
            <a:avLst/>
          </a:prstGeom>
          <a:noFill/>
        </p:spPr>
        <p:txBody>
          <a:bodyPr wrap="square">
            <a:spAutoFit/>
          </a:bodyPr>
          <a:lstStyle/>
          <a:p>
            <a:pPr algn="l"/>
            <a:r>
              <a:rPr sz="1300" b="1" i="0">
                <a:solidFill>
                  <a:srgbClr val="1C1C2C"/>
                </a:solidFill>
                <a:latin typeface="Calibri"/>
              </a:rPr>
              <a:t>Reduction in
coordination meetings</a:t>
            </a:r>
          </a:p>
        </p:txBody>
      </p:sp>
      <p:sp>
        <p:nvSpPr>
          <p:cNvPr id="16" name="TextBox 15"/>
          <p:cNvSpPr txBox="1"/>
          <p:nvPr/>
        </p:nvSpPr>
        <p:spPr>
          <a:xfrm>
            <a:off x="1280160" y="4480560"/>
            <a:ext cx="3566160" cy="566928"/>
          </a:xfrm>
          <a:prstGeom prst="rect">
            <a:avLst/>
          </a:prstGeom>
          <a:noFill/>
        </p:spPr>
        <p:txBody>
          <a:bodyPr wrap="square">
            <a:spAutoFit/>
          </a:bodyPr>
          <a:lstStyle/>
          <a:p>
            <a:pPr algn="l"/>
            <a:r>
              <a:rPr sz="1150" b="0" i="1">
                <a:solidFill>
                  <a:srgbClr val="545464"/>
                </a:solidFill>
                <a:latin typeface="Calibri"/>
              </a:rPr>
              <a:t>Fewer status syncs needed
when data is automated</a:t>
            </a:r>
          </a:p>
        </p:txBody>
      </p:sp>
      <p:sp>
        <p:nvSpPr>
          <p:cNvPr id="17" name="Rectangle 16"/>
          <p:cNvSpPr/>
          <p:nvPr/>
        </p:nvSpPr>
        <p:spPr>
          <a:xfrm>
            <a:off x="5157216" y="2816352"/>
            <a:ext cx="3931920" cy="233172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57216" y="2816352"/>
            <a:ext cx="393192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0096" y="2907792"/>
            <a:ext cx="3566160" cy="841248"/>
          </a:xfrm>
          <a:prstGeom prst="rect">
            <a:avLst/>
          </a:prstGeom>
          <a:noFill/>
        </p:spPr>
        <p:txBody>
          <a:bodyPr wrap="square">
            <a:spAutoFit/>
          </a:bodyPr>
          <a:lstStyle/>
          <a:p>
            <a:pPr algn="l"/>
            <a:r>
              <a:rPr sz="4000" b="1" i="0">
                <a:solidFill>
                  <a:srgbClr val="1C1C2C"/>
                </a:solidFill>
                <a:latin typeface="Calibri"/>
              </a:rPr>
              <a:t>↑ 3×</a:t>
            </a:r>
          </a:p>
        </p:txBody>
      </p:sp>
      <p:sp>
        <p:nvSpPr>
          <p:cNvPr id="20" name="TextBox 19"/>
          <p:cNvSpPr txBox="1"/>
          <p:nvPr/>
        </p:nvSpPr>
        <p:spPr>
          <a:xfrm>
            <a:off x="5340096" y="3767328"/>
            <a:ext cx="3566160" cy="685800"/>
          </a:xfrm>
          <a:prstGeom prst="rect">
            <a:avLst/>
          </a:prstGeom>
          <a:noFill/>
        </p:spPr>
        <p:txBody>
          <a:bodyPr wrap="square">
            <a:spAutoFit/>
          </a:bodyPr>
          <a:lstStyle/>
          <a:p>
            <a:pPr algn="l"/>
            <a:r>
              <a:rPr sz="1300" b="1" i="0">
                <a:solidFill>
                  <a:srgbClr val="1C1C2C"/>
                </a:solidFill>
                <a:latin typeface="Calibri"/>
              </a:rPr>
              <a:t>Faster average
blocker resolution</a:t>
            </a:r>
          </a:p>
        </p:txBody>
      </p:sp>
      <p:sp>
        <p:nvSpPr>
          <p:cNvPr id="21" name="TextBox 20"/>
          <p:cNvSpPr txBox="1"/>
          <p:nvPr/>
        </p:nvSpPr>
        <p:spPr>
          <a:xfrm>
            <a:off x="5340096" y="4480560"/>
            <a:ext cx="3566160" cy="566928"/>
          </a:xfrm>
          <a:prstGeom prst="rect">
            <a:avLst/>
          </a:prstGeom>
          <a:noFill/>
        </p:spPr>
        <p:txBody>
          <a:bodyPr wrap="square">
            <a:spAutoFit/>
          </a:bodyPr>
          <a:lstStyle/>
          <a:p>
            <a:pPr algn="l"/>
            <a:r>
              <a:rPr sz="1150" b="0" i="1">
                <a:solidFill>
                  <a:srgbClr val="545464"/>
                </a:solidFill>
                <a:latin typeface="Calibri"/>
              </a:rPr>
              <a:t>NLP surfaces blockers
before standups</a:t>
            </a:r>
          </a:p>
        </p:txBody>
      </p:sp>
      <p:sp>
        <p:nvSpPr>
          <p:cNvPr id="22" name="Rectangle 21"/>
          <p:cNvSpPr/>
          <p:nvPr/>
        </p:nvSpPr>
        <p:spPr>
          <a:xfrm>
            <a:off x="9217151" y="2816352"/>
            <a:ext cx="3931920" cy="233172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17151" y="2816352"/>
            <a:ext cx="393192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0031" y="2907792"/>
            <a:ext cx="3566160" cy="841248"/>
          </a:xfrm>
          <a:prstGeom prst="rect">
            <a:avLst/>
          </a:prstGeom>
          <a:noFill/>
        </p:spPr>
        <p:txBody>
          <a:bodyPr wrap="square">
            <a:spAutoFit/>
          </a:bodyPr>
          <a:lstStyle/>
          <a:p>
            <a:pPr algn="l"/>
            <a:r>
              <a:rPr sz="4000" b="1" i="0">
                <a:solidFill>
                  <a:srgbClr val="1C1C2C"/>
                </a:solidFill>
                <a:latin typeface="Calibri"/>
              </a:rPr>
              <a:t>↑ 28%</a:t>
            </a:r>
          </a:p>
        </p:txBody>
      </p:sp>
      <p:sp>
        <p:nvSpPr>
          <p:cNvPr id="25" name="TextBox 24"/>
          <p:cNvSpPr txBox="1"/>
          <p:nvPr/>
        </p:nvSpPr>
        <p:spPr>
          <a:xfrm>
            <a:off x="9400031" y="3767328"/>
            <a:ext cx="3566160" cy="685800"/>
          </a:xfrm>
          <a:prstGeom prst="rect">
            <a:avLst/>
          </a:prstGeom>
          <a:noFill/>
        </p:spPr>
        <p:txBody>
          <a:bodyPr wrap="square">
            <a:spAutoFit/>
          </a:bodyPr>
          <a:lstStyle/>
          <a:p>
            <a:pPr algn="l"/>
            <a:r>
              <a:rPr sz="1300" b="1" i="0">
                <a:solidFill>
                  <a:srgbClr val="1C1C2C"/>
                </a:solidFill>
                <a:latin typeface="Calibri"/>
              </a:rPr>
              <a:t>On-time delivery
improvement</a:t>
            </a:r>
          </a:p>
        </p:txBody>
      </p:sp>
      <p:sp>
        <p:nvSpPr>
          <p:cNvPr id="26" name="TextBox 25"/>
          <p:cNvSpPr txBox="1"/>
          <p:nvPr/>
        </p:nvSpPr>
        <p:spPr>
          <a:xfrm>
            <a:off x="9400031" y="4480560"/>
            <a:ext cx="3566160" cy="566928"/>
          </a:xfrm>
          <a:prstGeom prst="rect">
            <a:avLst/>
          </a:prstGeom>
          <a:noFill/>
        </p:spPr>
        <p:txBody>
          <a:bodyPr wrap="square">
            <a:spAutoFit/>
          </a:bodyPr>
          <a:lstStyle/>
          <a:p>
            <a:pPr algn="l"/>
            <a:r>
              <a:rPr sz="1150" b="0" i="1">
                <a:solidFill>
                  <a:srgbClr val="545464"/>
                </a:solidFill>
                <a:latin typeface="Calibri"/>
              </a:rPr>
              <a:t>Risk flagged 3-7 days
before deadline slip</a:t>
            </a:r>
          </a:p>
        </p:txBody>
      </p:sp>
      <p:sp>
        <p:nvSpPr>
          <p:cNvPr id="27" name="Rectangle 26"/>
          <p:cNvSpPr/>
          <p:nvPr/>
        </p:nvSpPr>
        <p:spPr>
          <a:xfrm>
            <a:off x="13277087" y="2816352"/>
            <a:ext cx="3931920" cy="233172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277087" y="2816352"/>
            <a:ext cx="393192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459967" y="2907792"/>
            <a:ext cx="3566160" cy="841248"/>
          </a:xfrm>
          <a:prstGeom prst="rect">
            <a:avLst/>
          </a:prstGeom>
          <a:noFill/>
        </p:spPr>
        <p:txBody>
          <a:bodyPr wrap="square">
            <a:spAutoFit/>
          </a:bodyPr>
          <a:lstStyle/>
          <a:p>
            <a:pPr algn="l"/>
            <a:r>
              <a:rPr sz="4000" b="1" i="0">
                <a:solidFill>
                  <a:srgbClr val="1C1C2C"/>
                </a:solidFill>
                <a:latin typeface="Calibri"/>
              </a:rPr>
              <a:t>↑ 90%</a:t>
            </a:r>
          </a:p>
        </p:txBody>
      </p:sp>
      <p:sp>
        <p:nvSpPr>
          <p:cNvPr id="30" name="TextBox 29"/>
          <p:cNvSpPr txBox="1"/>
          <p:nvPr/>
        </p:nvSpPr>
        <p:spPr>
          <a:xfrm>
            <a:off x="13459967" y="3767328"/>
            <a:ext cx="3566160" cy="685800"/>
          </a:xfrm>
          <a:prstGeom prst="rect">
            <a:avLst/>
          </a:prstGeom>
          <a:noFill/>
        </p:spPr>
        <p:txBody>
          <a:bodyPr wrap="square">
            <a:spAutoFit/>
          </a:bodyPr>
          <a:lstStyle/>
          <a:p>
            <a:pPr algn="l"/>
            <a:r>
              <a:rPr sz="1300" b="1" i="0">
                <a:solidFill>
                  <a:srgbClr val="1C1C2C"/>
                </a:solidFill>
                <a:latin typeface="Calibri"/>
              </a:rPr>
              <a:t>Real-time project
visibility</a:t>
            </a:r>
          </a:p>
        </p:txBody>
      </p:sp>
      <p:sp>
        <p:nvSpPr>
          <p:cNvPr id="31" name="TextBox 30"/>
          <p:cNvSpPr txBox="1"/>
          <p:nvPr/>
        </p:nvSpPr>
        <p:spPr>
          <a:xfrm>
            <a:off x="13459967" y="4480560"/>
            <a:ext cx="3566160" cy="566928"/>
          </a:xfrm>
          <a:prstGeom prst="rect">
            <a:avLst/>
          </a:prstGeom>
          <a:noFill/>
        </p:spPr>
        <p:txBody>
          <a:bodyPr wrap="square">
            <a:spAutoFit/>
          </a:bodyPr>
          <a:lstStyle/>
          <a:p>
            <a:pPr algn="l"/>
            <a:r>
              <a:rPr sz="1150" b="0" i="1">
                <a:solidFill>
                  <a:srgbClr val="545464"/>
                </a:solidFill>
                <a:latin typeface="Calibri"/>
              </a:rPr>
              <a:t>Single dashboard across
all tools and teams</a:t>
            </a:r>
          </a:p>
        </p:txBody>
      </p:sp>
      <p:sp>
        <p:nvSpPr>
          <p:cNvPr id="32" name="TextBox 31"/>
          <p:cNvSpPr txBox="1"/>
          <p:nvPr/>
        </p:nvSpPr>
        <p:spPr>
          <a:xfrm>
            <a:off x="1097280" y="5376672"/>
            <a:ext cx="16093440" cy="438912"/>
          </a:xfrm>
          <a:prstGeom prst="rect">
            <a:avLst/>
          </a:prstGeom>
          <a:noFill/>
        </p:spPr>
        <p:txBody>
          <a:bodyPr wrap="square">
            <a:spAutoFit/>
          </a:bodyPr>
          <a:lstStyle/>
          <a:p>
            <a:pPr algn="l"/>
            <a:r>
              <a:rPr sz="1800" b="1" i="0">
                <a:solidFill>
                  <a:srgbClr val="1C1C2C"/>
                </a:solidFill>
                <a:latin typeface="Calibri"/>
              </a:rPr>
              <a:t>Key Beneficiaries</a:t>
            </a:r>
          </a:p>
        </p:txBody>
      </p:sp>
      <p:sp>
        <p:nvSpPr>
          <p:cNvPr id="33" name="Rectangle 32"/>
          <p:cNvSpPr/>
          <p:nvPr/>
        </p:nvSpPr>
        <p:spPr>
          <a:xfrm>
            <a:off x="1097280" y="5852160"/>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97280" y="6016752"/>
            <a:ext cx="64008" cy="868680"/>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53312" y="6016752"/>
            <a:ext cx="4114800" cy="384048"/>
          </a:xfrm>
          <a:prstGeom prst="rect">
            <a:avLst/>
          </a:prstGeom>
          <a:noFill/>
        </p:spPr>
        <p:txBody>
          <a:bodyPr wrap="square">
            <a:spAutoFit/>
          </a:bodyPr>
          <a:lstStyle/>
          <a:p>
            <a:pPr algn="l"/>
            <a:r>
              <a:rPr sz="1400" b="1" i="0">
                <a:solidFill>
                  <a:srgbClr val="1C1C2C"/>
                </a:solidFill>
                <a:latin typeface="Calibri"/>
              </a:rPr>
              <a:t>Project Managers</a:t>
            </a:r>
          </a:p>
        </p:txBody>
      </p:sp>
      <p:sp>
        <p:nvSpPr>
          <p:cNvPr id="36" name="TextBox 35"/>
          <p:cNvSpPr txBox="1"/>
          <p:nvPr/>
        </p:nvSpPr>
        <p:spPr>
          <a:xfrm>
            <a:off x="1353312" y="6419088"/>
            <a:ext cx="15544800" cy="566928"/>
          </a:xfrm>
          <a:prstGeom prst="rect">
            <a:avLst/>
          </a:prstGeom>
          <a:noFill/>
        </p:spPr>
        <p:txBody>
          <a:bodyPr wrap="square">
            <a:spAutoFit/>
          </a:bodyPr>
          <a:lstStyle/>
          <a:p>
            <a:pPr algn="l"/>
            <a:r>
              <a:rPr sz="1300" b="0" i="0">
                <a:solidFill>
                  <a:srgbClr val="545464"/>
                </a:solidFill>
                <a:latin typeface="Calibri"/>
              </a:rPr>
              <a:t>Full real-time project visibility with zero manual data gathering. AI generates status reports automatically, freeing PMs to focus on decisions.</a:t>
            </a:r>
          </a:p>
        </p:txBody>
      </p:sp>
      <p:sp>
        <p:nvSpPr>
          <p:cNvPr id="37" name="Rectangle 36"/>
          <p:cNvSpPr/>
          <p:nvPr/>
        </p:nvSpPr>
        <p:spPr>
          <a:xfrm>
            <a:off x="1097280" y="7068312"/>
            <a:ext cx="64008" cy="868680"/>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53312" y="7068312"/>
            <a:ext cx="4114800" cy="384048"/>
          </a:xfrm>
          <a:prstGeom prst="rect">
            <a:avLst/>
          </a:prstGeom>
          <a:noFill/>
        </p:spPr>
        <p:txBody>
          <a:bodyPr wrap="square">
            <a:spAutoFit/>
          </a:bodyPr>
          <a:lstStyle/>
          <a:p>
            <a:pPr algn="l"/>
            <a:r>
              <a:rPr sz="1400" b="1" i="0">
                <a:solidFill>
                  <a:srgbClr val="1C1C2C"/>
                </a:solidFill>
                <a:latin typeface="Calibri"/>
              </a:rPr>
              <a:t>Developers &amp; Sprint Teams</a:t>
            </a:r>
          </a:p>
        </p:txBody>
      </p:sp>
      <p:sp>
        <p:nvSpPr>
          <p:cNvPr id="39" name="TextBox 38"/>
          <p:cNvSpPr txBox="1"/>
          <p:nvPr/>
        </p:nvSpPr>
        <p:spPr>
          <a:xfrm>
            <a:off x="1353312" y="7470648"/>
            <a:ext cx="15544800" cy="566928"/>
          </a:xfrm>
          <a:prstGeom prst="rect">
            <a:avLst/>
          </a:prstGeom>
          <a:noFill/>
        </p:spPr>
        <p:txBody>
          <a:bodyPr wrap="square">
            <a:spAutoFit/>
          </a:bodyPr>
          <a:lstStyle/>
          <a:p>
            <a:pPr algn="l"/>
            <a:r>
              <a:rPr sz="1300" b="0" i="0">
                <a:solidFill>
                  <a:srgbClr val="545464"/>
                </a:solidFill>
                <a:latin typeface="Calibri"/>
              </a:rPr>
              <a:t>Automated blocker detection means engineers spend less time in standups and more time coding. Hidden impediments are surfaced before they stall the sprint.</a:t>
            </a:r>
          </a:p>
        </p:txBody>
      </p:sp>
      <p:sp>
        <p:nvSpPr>
          <p:cNvPr id="40" name="Rectangle 39"/>
          <p:cNvSpPr/>
          <p:nvPr/>
        </p:nvSpPr>
        <p:spPr>
          <a:xfrm>
            <a:off x="1097280" y="8119871"/>
            <a:ext cx="64008" cy="868680"/>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3312" y="8119871"/>
            <a:ext cx="4114800" cy="384048"/>
          </a:xfrm>
          <a:prstGeom prst="rect">
            <a:avLst/>
          </a:prstGeom>
          <a:noFill/>
        </p:spPr>
        <p:txBody>
          <a:bodyPr wrap="square">
            <a:spAutoFit/>
          </a:bodyPr>
          <a:lstStyle/>
          <a:p>
            <a:pPr algn="l"/>
            <a:r>
              <a:rPr sz="1400" b="1" i="0">
                <a:solidFill>
                  <a:srgbClr val="1C1C2C"/>
                </a:solidFill>
                <a:latin typeface="Calibri"/>
              </a:rPr>
              <a:t>Engineering &amp; Team Leads</a:t>
            </a:r>
          </a:p>
        </p:txBody>
      </p:sp>
      <p:sp>
        <p:nvSpPr>
          <p:cNvPr id="42" name="TextBox 41"/>
          <p:cNvSpPr txBox="1"/>
          <p:nvPr/>
        </p:nvSpPr>
        <p:spPr>
          <a:xfrm>
            <a:off x="1353312" y="8522207"/>
            <a:ext cx="15544800" cy="566928"/>
          </a:xfrm>
          <a:prstGeom prst="rect">
            <a:avLst/>
          </a:prstGeom>
          <a:noFill/>
        </p:spPr>
        <p:txBody>
          <a:bodyPr wrap="square">
            <a:spAutoFit/>
          </a:bodyPr>
          <a:lstStyle/>
          <a:p>
            <a:pPr algn="l"/>
            <a:r>
              <a:rPr sz="1300" b="0" i="0">
                <a:solidFill>
                  <a:srgbClr val="545464"/>
                </a:solidFill>
                <a:latin typeface="Calibri"/>
              </a:rPr>
              <a:t>Proactive risk flags enable course correction 3–7 days ahead of impact. Workload heatmaps prevent burnout and allow intelligent task redistribution.</a:t>
            </a:r>
          </a:p>
        </p:txBody>
      </p:sp>
      <p:sp>
        <p:nvSpPr>
          <p:cNvPr id="43" name="Rectangle 42"/>
          <p:cNvSpPr/>
          <p:nvPr/>
        </p:nvSpPr>
        <p:spPr>
          <a:xfrm>
            <a:off x="1097280" y="9171432"/>
            <a:ext cx="64008" cy="868680"/>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353312" y="9171432"/>
            <a:ext cx="4114800" cy="384048"/>
          </a:xfrm>
          <a:prstGeom prst="rect">
            <a:avLst/>
          </a:prstGeom>
          <a:noFill/>
        </p:spPr>
        <p:txBody>
          <a:bodyPr wrap="square">
            <a:spAutoFit/>
          </a:bodyPr>
          <a:lstStyle/>
          <a:p>
            <a:pPr algn="l"/>
            <a:r>
              <a:rPr sz="1400" b="1" i="0">
                <a:solidFill>
                  <a:srgbClr val="1C1C2C"/>
                </a:solidFill>
                <a:latin typeface="Calibri"/>
              </a:rPr>
              <a:t>C-Suite &amp; Stakeholders</a:t>
            </a:r>
          </a:p>
        </p:txBody>
      </p:sp>
      <p:sp>
        <p:nvSpPr>
          <p:cNvPr id="45" name="TextBox 44"/>
          <p:cNvSpPr txBox="1"/>
          <p:nvPr/>
        </p:nvSpPr>
        <p:spPr>
          <a:xfrm>
            <a:off x="1353312" y="9573767"/>
            <a:ext cx="15544800" cy="566928"/>
          </a:xfrm>
          <a:prstGeom prst="rect">
            <a:avLst/>
          </a:prstGeom>
          <a:noFill/>
        </p:spPr>
        <p:txBody>
          <a:bodyPr wrap="square">
            <a:spAutoFit/>
          </a:bodyPr>
          <a:lstStyle/>
          <a:p>
            <a:pPr algn="l"/>
            <a:r>
              <a:rPr sz="1300" b="0" i="0">
                <a:solidFill>
                  <a:srgbClr val="545464"/>
                </a:solidFill>
                <a:latin typeface="Calibri"/>
              </a:rPr>
              <a:t>Live portfolio health dashboard with concise executive summaries. No more waiting for weekly reports — real-time signal on every project.</a:t>
            </a:r>
          </a:p>
        </p:txBody>
      </p:sp>
    </p:spTree>
    <p:extLst>
      <p:ext uri="{BB962C8B-B14F-4D97-AF65-F5344CB8AC3E}">
        <p14:creationId xmlns:p14="http://schemas.microsoft.com/office/powerpoint/2010/main" val="395967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EFEB"/>
        </a:solidFill>
        <a:effectLst/>
      </p:bgPr>
    </p:bg>
    <p:spTree>
      <p:nvGrpSpPr>
        <p:cNvPr id="1" name=""/>
        <p:cNvGrpSpPr/>
        <p:nvPr/>
      </p:nvGrpSpPr>
      <p:grpSpPr>
        <a:xfrm>
          <a:off x="0" y="0"/>
          <a:ext cx="0" cy="0"/>
          <a:chOff x="0" y="0"/>
          <a:chExt cx="0" cy="0"/>
        </a:xfrm>
      </p:grpSpPr>
      <p:sp>
        <p:nvSpPr>
          <p:cNvPr id="2" name="Freeform 2"/>
          <p:cNvSpPr/>
          <p:nvPr/>
        </p:nvSpPr>
        <p:spPr>
          <a:xfrm>
            <a:off x="4172557" y="2402992"/>
            <a:ext cx="9942885" cy="5481015"/>
          </a:xfrm>
          <a:custGeom>
            <a:avLst/>
            <a:gdLst/>
            <a:ahLst/>
            <a:cxnLst/>
            <a:rect l="l" t="t" r="r" b="b"/>
            <a:pathLst>
              <a:path w="9942885" h="5481015">
                <a:moveTo>
                  <a:pt x="0" y="0"/>
                </a:moveTo>
                <a:lnTo>
                  <a:pt x="9942886" y="0"/>
                </a:lnTo>
                <a:lnTo>
                  <a:pt x="9942886" y="5481016"/>
                </a:lnTo>
                <a:lnTo>
                  <a:pt x="0" y="5481016"/>
                </a:lnTo>
                <a:lnTo>
                  <a:pt x="0" y="0"/>
                </a:lnTo>
                <a:close/>
              </a:path>
            </a:pathLst>
          </a:custGeom>
          <a:blipFill>
            <a:blip r:embed="rId2">
              <a:alphaModFix amt="19999"/>
            </a:blip>
            <a:stretch>
              <a:fillRect/>
            </a:stretch>
          </a:blipFill>
        </p:spPr>
      </p:sp>
      <p:sp>
        <p:nvSpPr>
          <p:cNvPr id="4" name="Freeform 4"/>
          <p:cNvSpPr/>
          <p:nvPr/>
        </p:nvSpPr>
        <p:spPr>
          <a:xfrm rot="10357998" flipH="1">
            <a:off x="8037368" y="-5185412"/>
            <a:ext cx="12612839" cy="8135281"/>
          </a:xfrm>
          <a:custGeom>
            <a:avLst/>
            <a:gdLst/>
            <a:ahLst/>
            <a:cxnLst/>
            <a:rect l="l" t="t" r="r" b="b"/>
            <a:pathLst>
              <a:path w="12612839" h="8135281">
                <a:moveTo>
                  <a:pt x="12612839" y="0"/>
                </a:moveTo>
                <a:lnTo>
                  <a:pt x="0" y="0"/>
                </a:lnTo>
                <a:lnTo>
                  <a:pt x="0" y="8135280"/>
                </a:lnTo>
                <a:lnTo>
                  <a:pt x="12612839" y="8135280"/>
                </a:lnTo>
                <a:lnTo>
                  <a:pt x="12612839" y="0"/>
                </a:lnTo>
                <a:close/>
              </a:path>
            </a:pathLst>
          </a:custGeom>
          <a:blipFill>
            <a:blip r:embed="rId3"/>
            <a:stretch>
              <a:fillRect/>
            </a:stretch>
          </a:blipFill>
        </p:spPr>
      </p:sp>
      <p:sp>
        <p:nvSpPr>
          <p:cNvPr id="5" name="Freeform 5"/>
          <p:cNvSpPr/>
          <p:nvPr/>
        </p:nvSpPr>
        <p:spPr>
          <a:xfrm rot="-10241977">
            <a:off x="-1480343" y="-4432981"/>
            <a:ext cx="11305800" cy="7292241"/>
          </a:xfrm>
          <a:custGeom>
            <a:avLst/>
            <a:gdLst/>
            <a:ahLst/>
            <a:cxnLst/>
            <a:rect l="l" t="t" r="r" b="b"/>
            <a:pathLst>
              <a:path w="11305800" h="7292241">
                <a:moveTo>
                  <a:pt x="0" y="0"/>
                </a:moveTo>
                <a:lnTo>
                  <a:pt x="11305801" y="0"/>
                </a:lnTo>
                <a:lnTo>
                  <a:pt x="11305801" y="7292241"/>
                </a:lnTo>
                <a:lnTo>
                  <a:pt x="0" y="7292241"/>
                </a:lnTo>
                <a:lnTo>
                  <a:pt x="0" y="0"/>
                </a:lnTo>
                <a:close/>
              </a:path>
            </a:pathLst>
          </a:custGeom>
          <a:blipFill>
            <a:blip r:embed="rId3"/>
            <a:stretch>
              <a:fillRect/>
            </a:stretch>
          </a:blipFill>
        </p:spPr>
      </p:sp>
      <p:sp>
        <p:nvSpPr>
          <p:cNvPr id="6" name="Freeform 6"/>
          <p:cNvSpPr/>
          <p:nvPr/>
        </p:nvSpPr>
        <p:spPr>
          <a:xfrm>
            <a:off x="16395852" y="321662"/>
            <a:ext cx="1414075" cy="1414075"/>
          </a:xfrm>
          <a:custGeom>
            <a:avLst/>
            <a:gdLst/>
            <a:ahLst/>
            <a:cxnLst/>
            <a:rect l="l" t="t" r="r" b="b"/>
            <a:pathLst>
              <a:path w="1414075" h="1414075">
                <a:moveTo>
                  <a:pt x="0" y="0"/>
                </a:moveTo>
                <a:lnTo>
                  <a:pt x="1414076" y="0"/>
                </a:lnTo>
                <a:lnTo>
                  <a:pt x="1414076" y="1414076"/>
                </a:lnTo>
                <a:lnTo>
                  <a:pt x="0" y="1414076"/>
                </a:lnTo>
                <a:lnTo>
                  <a:pt x="0" y="0"/>
                </a:lnTo>
                <a:close/>
              </a:path>
            </a:pathLst>
          </a:custGeom>
          <a:blipFill>
            <a:blip r:embed="rId4"/>
            <a:stretch>
              <a:fillRect/>
            </a:stretch>
          </a:blipFill>
        </p:spPr>
      </p:sp>
      <p:sp>
        <p:nvSpPr>
          <p:cNvPr id="7" name="Rectangle 6"/>
          <p:cNvSpPr/>
          <p:nvPr/>
        </p:nvSpPr>
        <p:spPr>
          <a:xfrm>
            <a:off x="914400" y="1371600"/>
            <a:ext cx="16459200" cy="5989320"/>
          </a:xfrm>
          <a:prstGeom prst="rect">
            <a:avLst/>
          </a:prstGeom>
          <a:solidFill>
            <a:srgbClr val="F2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36192"/>
            <a:ext cx="16093440" cy="1371600"/>
          </a:xfrm>
          <a:prstGeom prst="rect">
            <a:avLst/>
          </a:prstGeom>
          <a:noFill/>
        </p:spPr>
        <p:txBody>
          <a:bodyPr wrap="square">
            <a:spAutoFit/>
          </a:bodyPr>
          <a:lstStyle/>
          <a:p>
            <a:pPr algn="l"/>
            <a:r>
              <a:rPr sz="8000" b="1" i="0">
                <a:solidFill>
                  <a:srgbClr val="1C1C2C"/>
                </a:solidFill>
                <a:latin typeface="Calibri"/>
              </a:rPr>
              <a:t>Thank You.</a:t>
            </a:r>
          </a:p>
        </p:txBody>
      </p:sp>
      <p:sp>
        <p:nvSpPr>
          <p:cNvPr id="9" name="Rectangle 8"/>
          <p:cNvSpPr/>
          <p:nvPr/>
        </p:nvSpPr>
        <p:spPr>
          <a:xfrm>
            <a:off x="1097280" y="2999232"/>
            <a:ext cx="8229600" cy="4114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82112"/>
            <a:ext cx="16093440" cy="548640"/>
          </a:xfrm>
          <a:prstGeom prst="rect">
            <a:avLst/>
          </a:prstGeom>
          <a:noFill/>
        </p:spPr>
        <p:txBody>
          <a:bodyPr wrap="square">
            <a:spAutoFit/>
          </a:bodyPr>
          <a:lstStyle/>
          <a:p>
            <a:pPr algn="l"/>
            <a:r>
              <a:rPr sz="2000" b="1" i="0">
                <a:solidFill>
                  <a:srgbClr val="1C1C2C"/>
                </a:solidFill>
                <a:latin typeface="Calibri"/>
              </a:rPr>
              <a:t>ProjectPulse — AI-Powered Project Intelligence Platform</a:t>
            </a:r>
          </a:p>
        </p:txBody>
      </p:sp>
      <p:sp>
        <p:nvSpPr>
          <p:cNvPr id="11" name="TextBox 10"/>
          <p:cNvSpPr txBox="1"/>
          <p:nvPr/>
        </p:nvSpPr>
        <p:spPr>
          <a:xfrm>
            <a:off x="1097280" y="3767328"/>
            <a:ext cx="16093440" cy="411480"/>
          </a:xfrm>
          <a:prstGeom prst="rect">
            <a:avLst/>
          </a:prstGeom>
          <a:noFill/>
        </p:spPr>
        <p:txBody>
          <a:bodyPr wrap="square">
            <a:spAutoFit/>
          </a:bodyPr>
          <a:lstStyle/>
          <a:p>
            <a:pPr algn="l"/>
            <a:r>
              <a:rPr sz="1500" b="0" i="1">
                <a:solidFill>
                  <a:srgbClr val="545464"/>
                </a:solidFill>
                <a:latin typeface="Calibri"/>
              </a:rPr>
              <a:t>Because your project deserves a pulse-check.</a:t>
            </a:r>
          </a:p>
        </p:txBody>
      </p:sp>
      <p:sp>
        <p:nvSpPr>
          <p:cNvPr id="12" name="TextBox 11"/>
          <p:cNvSpPr txBox="1"/>
          <p:nvPr/>
        </p:nvSpPr>
        <p:spPr>
          <a:xfrm>
            <a:off x="1097280" y="4315968"/>
            <a:ext cx="5486400" cy="384048"/>
          </a:xfrm>
          <a:prstGeom prst="rect">
            <a:avLst/>
          </a:prstGeom>
          <a:noFill/>
        </p:spPr>
        <p:txBody>
          <a:bodyPr wrap="square">
            <a:spAutoFit/>
          </a:bodyPr>
          <a:lstStyle/>
          <a:p>
            <a:pPr algn="l"/>
            <a:r>
              <a:rPr sz="1500" b="1" i="0">
                <a:solidFill>
                  <a:srgbClr val="1C1C2C"/>
                </a:solidFill>
                <a:latin typeface="Calibri"/>
              </a:rPr>
              <a:t>What We Built:</a:t>
            </a:r>
          </a:p>
        </p:txBody>
      </p:sp>
      <p:sp>
        <p:nvSpPr>
          <p:cNvPr id="13" name="TextBox 12"/>
          <p:cNvSpPr txBox="1"/>
          <p:nvPr/>
        </p:nvSpPr>
        <p:spPr>
          <a:xfrm>
            <a:off x="1097280" y="4773168"/>
            <a:ext cx="16093440" cy="475488"/>
          </a:xfrm>
          <a:prstGeom prst="rect">
            <a:avLst/>
          </a:prstGeom>
          <a:noFill/>
        </p:spPr>
        <p:txBody>
          <a:bodyPr wrap="square">
            <a:spAutoFit/>
          </a:bodyPr>
          <a:lstStyle/>
          <a:p>
            <a:pPr algn="l"/>
            <a:r>
              <a:rPr sz="1400" b="0" i="0">
                <a:solidFill>
                  <a:srgbClr val="1C1C2C"/>
                </a:solidFill>
                <a:latin typeface="Calibri"/>
              </a:rPr>
              <a:t>—  Real-time AI monitoring across Jira, Slack, GitHub, Trello, Asana, and Microsoft Teams</a:t>
            </a:r>
          </a:p>
        </p:txBody>
      </p:sp>
      <p:sp>
        <p:nvSpPr>
          <p:cNvPr id="14" name="TextBox 13"/>
          <p:cNvSpPr txBox="1"/>
          <p:nvPr/>
        </p:nvSpPr>
        <p:spPr>
          <a:xfrm>
            <a:off x="1097280" y="5266944"/>
            <a:ext cx="16093440" cy="475488"/>
          </a:xfrm>
          <a:prstGeom prst="rect">
            <a:avLst/>
          </a:prstGeom>
          <a:noFill/>
        </p:spPr>
        <p:txBody>
          <a:bodyPr wrap="square">
            <a:spAutoFit/>
          </a:bodyPr>
          <a:lstStyle/>
          <a:p>
            <a:pPr algn="l"/>
            <a:r>
              <a:rPr sz="1400" b="0" i="0">
                <a:solidFill>
                  <a:srgbClr val="1C1C2C"/>
                </a:solidFill>
                <a:latin typeface="Calibri"/>
              </a:rPr>
              <a:t>—  Proactive risk detection and NLP-powered blocker identification before escalation</a:t>
            </a:r>
          </a:p>
        </p:txBody>
      </p:sp>
      <p:sp>
        <p:nvSpPr>
          <p:cNvPr id="15" name="TextBox 14"/>
          <p:cNvSpPr txBox="1"/>
          <p:nvPr/>
        </p:nvSpPr>
        <p:spPr>
          <a:xfrm>
            <a:off x="1097280" y="5760720"/>
            <a:ext cx="16093440" cy="475488"/>
          </a:xfrm>
          <a:prstGeom prst="rect">
            <a:avLst/>
          </a:prstGeom>
          <a:noFill/>
        </p:spPr>
        <p:txBody>
          <a:bodyPr wrap="square">
            <a:spAutoFit/>
          </a:bodyPr>
          <a:lstStyle/>
          <a:p>
            <a:pPr algn="l"/>
            <a:r>
              <a:rPr sz="1400" b="0" i="0">
                <a:solidFill>
                  <a:srgbClr val="1C1C2C"/>
                </a:solidFill>
                <a:latin typeface="Calibri"/>
              </a:rPr>
              <a:t>—  Automated daily and weekly project health reports — zero manual effort for managers</a:t>
            </a:r>
          </a:p>
        </p:txBody>
      </p:sp>
      <p:sp>
        <p:nvSpPr>
          <p:cNvPr id="16" name="TextBox 15"/>
          <p:cNvSpPr txBox="1"/>
          <p:nvPr/>
        </p:nvSpPr>
        <p:spPr>
          <a:xfrm>
            <a:off x="1097280" y="6254496"/>
            <a:ext cx="16093440" cy="475488"/>
          </a:xfrm>
          <a:prstGeom prst="rect">
            <a:avLst/>
          </a:prstGeom>
          <a:noFill/>
        </p:spPr>
        <p:txBody>
          <a:bodyPr wrap="square">
            <a:spAutoFit/>
          </a:bodyPr>
          <a:lstStyle/>
          <a:p>
            <a:pPr algn="l"/>
            <a:r>
              <a:rPr sz="1400" b="0" i="0">
                <a:solidFill>
                  <a:srgbClr val="1C1C2C"/>
                </a:solidFill>
                <a:latin typeface="Calibri"/>
              </a:rPr>
              <a:t>—  Intelligent workload balancing alerts to prevent team burnout and sprint failures</a:t>
            </a:r>
          </a:p>
        </p:txBody>
      </p:sp>
      <p:sp>
        <p:nvSpPr>
          <p:cNvPr id="17" name="TextBox 16"/>
          <p:cNvSpPr txBox="1"/>
          <p:nvPr/>
        </p:nvSpPr>
        <p:spPr>
          <a:xfrm>
            <a:off x="1097280" y="6748272"/>
            <a:ext cx="16093440" cy="475488"/>
          </a:xfrm>
          <a:prstGeom prst="rect">
            <a:avLst/>
          </a:prstGeom>
          <a:noFill/>
        </p:spPr>
        <p:txBody>
          <a:bodyPr wrap="square">
            <a:spAutoFit/>
          </a:bodyPr>
          <a:lstStyle/>
          <a:p>
            <a:pPr algn="l"/>
            <a:r>
              <a:rPr sz="1400" b="0" i="0">
                <a:solidFill>
                  <a:srgbClr val="1C1C2C"/>
                </a:solidFill>
                <a:latin typeface="Calibri"/>
              </a:rPr>
              <a:t>—  Single unified intelligence dashboard replacing all manual coordination overhead</a:t>
            </a:r>
          </a:p>
        </p:txBody>
      </p:sp>
      <p:sp>
        <p:nvSpPr>
          <p:cNvPr id="18" name="TextBox 17"/>
          <p:cNvSpPr txBox="1"/>
          <p:nvPr/>
        </p:nvSpPr>
        <p:spPr>
          <a:xfrm>
            <a:off x="1097280" y="7269480"/>
            <a:ext cx="6400800" cy="384048"/>
          </a:xfrm>
          <a:prstGeom prst="rect">
            <a:avLst/>
          </a:prstGeom>
          <a:noFill/>
        </p:spPr>
        <p:txBody>
          <a:bodyPr wrap="square">
            <a:spAutoFit/>
          </a:bodyPr>
          <a:lstStyle/>
          <a:p>
            <a:pPr algn="l"/>
            <a:r>
              <a:rPr sz="1400" b="1" i="0">
                <a:solidFill>
                  <a:srgbClr val="0C386E"/>
                </a:solidFill>
                <a:latin typeface="Calibri"/>
              </a:rPr>
              <a:t>Judging Criteria Addressed:</a:t>
            </a:r>
          </a:p>
        </p:txBody>
      </p:sp>
      <p:sp>
        <p:nvSpPr>
          <p:cNvPr id="19" name="TextBox 18"/>
          <p:cNvSpPr txBox="1"/>
          <p:nvPr/>
        </p:nvSpPr>
        <p:spPr>
          <a:xfrm>
            <a:off x="1097280" y="7699248"/>
            <a:ext cx="16093440" cy="384048"/>
          </a:xfrm>
          <a:prstGeom prst="rect">
            <a:avLst/>
          </a:prstGeom>
          <a:noFill/>
        </p:spPr>
        <p:txBody>
          <a:bodyPr wrap="square">
            <a:spAutoFit/>
          </a:bodyPr>
          <a:lstStyle/>
          <a:p>
            <a:pPr algn="l"/>
            <a:r>
              <a:rPr sz="1300" b="0" i="0">
                <a:solidFill>
                  <a:srgbClr val="545464"/>
                </a:solidFill>
                <a:latin typeface="Calibri"/>
              </a:rPr>
              <a:t>Problem Understanding  ·  Innovation &amp; Creativity  ·  Technical Direction  ·  Expected Impact  ·  Team Strengths</a:t>
            </a:r>
          </a:p>
        </p:txBody>
      </p:sp>
      <p:sp>
        <p:nvSpPr>
          <p:cNvPr id="20" name="Rectangle 19"/>
          <p:cNvSpPr/>
          <p:nvPr/>
        </p:nvSpPr>
        <p:spPr>
          <a:xfrm>
            <a:off x="914400" y="8275320"/>
            <a:ext cx="16459200" cy="132588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8412480"/>
            <a:ext cx="16093440" cy="438912"/>
          </a:xfrm>
          <a:prstGeom prst="rect">
            <a:avLst/>
          </a:prstGeom>
          <a:noFill/>
        </p:spPr>
        <p:txBody>
          <a:bodyPr wrap="square">
            <a:spAutoFit/>
          </a:bodyPr>
          <a:lstStyle/>
          <a:p>
            <a:pPr algn="ctr"/>
            <a:r>
              <a:rPr sz="1300" b="0" i="0">
                <a:solidFill>
                  <a:srgbClr val="545464"/>
                </a:solidFill>
                <a:latin typeface="Calibri"/>
              </a:rPr>
              <a:t>Team: Hack Mavericks   ·   Ashish Marothia  ·  Abhishek Pal  ·  Shivam Mewada  ·  Satyam Pandey  ·  Nishant Navale  ·  Kshitij Nalawade</a:t>
            </a:r>
          </a:p>
        </p:txBody>
      </p:sp>
      <p:sp>
        <p:nvSpPr>
          <p:cNvPr id="22" name="TextBox 21"/>
          <p:cNvSpPr txBox="1"/>
          <p:nvPr/>
        </p:nvSpPr>
        <p:spPr>
          <a:xfrm>
            <a:off x="1097280" y="8887968"/>
            <a:ext cx="16093440" cy="365760"/>
          </a:xfrm>
          <a:prstGeom prst="rect">
            <a:avLst/>
          </a:prstGeom>
          <a:noFill/>
        </p:spPr>
        <p:txBody>
          <a:bodyPr wrap="square">
            <a:spAutoFit/>
          </a:bodyPr>
          <a:lstStyle/>
          <a:p>
            <a:pPr algn="ctr"/>
            <a:r>
              <a:rPr sz="1200" b="0" i="1">
                <a:solidFill>
                  <a:srgbClr val="545464"/>
                </a:solidFill>
                <a:latin typeface="Calibri"/>
              </a:rPr>
              <a:t>LOOP 1.0   ·   Bharati Vidyapeeth College of Engineering, Navi Mumbai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6093440" cy="411480"/>
          </a:xfrm>
          <a:prstGeom prst="rect">
            <a:avLst/>
          </a:prstGeom>
          <a:noFill/>
        </p:spPr>
        <p:txBody>
          <a:bodyPr wrap="square">
            <a:spAutoFit/>
          </a:bodyPr>
          <a:lstStyle/>
          <a:p>
            <a:pPr algn="l"/>
            <a:r>
              <a:rPr sz="1200" b="1" i="0">
                <a:solidFill>
                  <a:srgbClr val="0C386E"/>
                </a:solidFill>
                <a:latin typeface="Calibri"/>
              </a:rPr>
              <a:t>TEAM &amp; PROGRESS</a:t>
            </a:r>
          </a:p>
        </p:txBody>
      </p:sp>
      <p:sp>
        <p:nvSpPr>
          <p:cNvPr id="4" name="TextBox 3"/>
          <p:cNvSpPr txBox="1"/>
          <p:nvPr/>
        </p:nvSpPr>
        <p:spPr>
          <a:xfrm>
            <a:off x="1097280" y="1755648"/>
            <a:ext cx="16093440" cy="868680"/>
          </a:xfrm>
          <a:prstGeom prst="rect">
            <a:avLst/>
          </a:prstGeom>
          <a:noFill/>
        </p:spPr>
        <p:txBody>
          <a:bodyPr wrap="square">
            <a:spAutoFit/>
          </a:bodyPr>
          <a:lstStyle/>
          <a:p>
            <a:pPr algn="l"/>
            <a:r>
              <a:rPr sz="3000" b="1" i="0">
                <a:solidFill>
                  <a:srgbClr val="1C1C2C"/>
                </a:solidFill>
                <a:latin typeface="Calibri"/>
              </a:rPr>
              <a:t>Hack Mavericks — Team Introduction &amp; Development Status</a:t>
            </a:r>
          </a:p>
        </p:txBody>
      </p:sp>
      <p:sp>
        <p:nvSpPr>
          <p:cNvPr id="5" name="Rectangle 4"/>
          <p:cNvSpPr/>
          <p:nvPr/>
        </p:nvSpPr>
        <p:spPr>
          <a:xfrm>
            <a:off x="1097280" y="2670048"/>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81635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907792"/>
            <a:ext cx="4876800" cy="420624"/>
          </a:xfrm>
          <a:prstGeom prst="rect">
            <a:avLst/>
          </a:prstGeom>
          <a:noFill/>
        </p:spPr>
        <p:txBody>
          <a:bodyPr wrap="square">
            <a:spAutoFit/>
          </a:bodyPr>
          <a:lstStyle/>
          <a:p>
            <a:pPr algn="l"/>
            <a:r>
              <a:rPr sz="1400" b="1" i="0">
                <a:solidFill>
                  <a:srgbClr val="1C1C2C"/>
                </a:solidFill>
                <a:latin typeface="Calibri"/>
              </a:rPr>
              <a:t>Ashish Marothia</a:t>
            </a:r>
          </a:p>
        </p:txBody>
      </p:sp>
      <p:sp>
        <p:nvSpPr>
          <p:cNvPr id="9" name="TextBox 8"/>
          <p:cNvSpPr txBox="1"/>
          <p:nvPr/>
        </p:nvSpPr>
        <p:spPr>
          <a:xfrm>
            <a:off x="1280160" y="3328416"/>
            <a:ext cx="4876800" cy="347472"/>
          </a:xfrm>
          <a:prstGeom prst="rect">
            <a:avLst/>
          </a:prstGeom>
          <a:noFill/>
        </p:spPr>
        <p:txBody>
          <a:bodyPr wrap="square">
            <a:spAutoFit/>
          </a:bodyPr>
          <a:lstStyle/>
          <a:p>
            <a:pPr algn="l"/>
            <a:r>
              <a:rPr sz="1200" b="0" i="1">
                <a:solidFill>
                  <a:srgbClr val="0C386E"/>
                </a:solidFill>
                <a:latin typeface="Calibri"/>
              </a:rPr>
              <a:t>Team Lead &amp; Backend Engineer</a:t>
            </a:r>
          </a:p>
        </p:txBody>
      </p:sp>
      <p:sp>
        <p:nvSpPr>
          <p:cNvPr id="10" name="TextBox 9"/>
          <p:cNvSpPr txBox="1"/>
          <p:nvPr/>
        </p:nvSpPr>
        <p:spPr>
          <a:xfrm>
            <a:off x="1280160" y="3712464"/>
            <a:ext cx="4876800" cy="822960"/>
          </a:xfrm>
          <a:prstGeom prst="rect">
            <a:avLst/>
          </a:prstGeom>
          <a:noFill/>
        </p:spPr>
        <p:txBody>
          <a:bodyPr wrap="square">
            <a:spAutoFit/>
          </a:bodyPr>
          <a:lstStyle/>
          <a:p>
            <a:pPr algn="l"/>
            <a:r>
              <a:rPr sz="1150" b="0" i="0">
                <a:solidFill>
                  <a:srgbClr val="545464"/>
                </a:solidFill>
                <a:latin typeface="Calibri"/>
              </a:rPr>
              <a:t>Leads system architecture, API design, and backend services. Owns core data ingestion pipeline and server-side business logic.</a:t>
            </a:r>
          </a:p>
        </p:txBody>
      </p:sp>
      <p:sp>
        <p:nvSpPr>
          <p:cNvPr id="11" name="Rectangle 10"/>
          <p:cNvSpPr/>
          <p:nvPr/>
        </p:nvSpPr>
        <p:spPr>
          <a:xfrm>
            <a:off x="6522720" y="281635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2272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5600" y="2907792"/>
            <a:ext cx="4876800" cy="420624"/>
          </a:xfrm>
          <a:prstGeom prst="rect">
            <a:avLst/>
          </a:prstGeom>
          <a:noFill/>
        </p:spPr>
        <p:txBody>
          <a:bodyPr wrap="square">
            <a:spAutoFit/>
          </a:bodyPr>
          <a:lstStyle/>
          <a:p>
            <a:pPr algn="l"/>
            <a:r>
              <a:rPr sz="1400" b="1" i="0">
                <a:solidFill>
                  <a:srgbClr val="1C1C2C"/>
                </a:solidFill>
                <a:latin typeface="Calibri"/>
              </a:rPr>
              <a:t>Abhishek Pal</a:t>
            </a:r>
          </a:p>
        </p:txBody>
      </p:sp>
      <p:sp>
        <p:nvSpPr>
          <p:cNvPr id="14" name="TextBox 13"/>
          <p:cNvSpPr txBox="1"/>
          <p:nvPr/>
        </p:nvSpPr>
        <p:spPr>
          <a:xfrm>
            <a:off x="6705600" y="3328416"/>
            <a:ext cx="4876800" cy="347472"/>
          </a:xfrm>
          <a:prstGeom prst="rect">
            <a:avLst/>
          </a:prstGeom>
          <a:noFill/>
        </p:spPr>
        <p:txBody>
          <a:bodyPr wrap="square">
            <a:spAutoFit/>
          </a:bodyPr>
          <a:lstStyle/>
          <a:p>
            <a:pPr algn="l"/>
            <a:r>
              <a:rPr sz="1200" b="0" i="1">
                <a:solidFill>
                  <a:srgbClr val="0C386E"/>
                </a:solidFill>
                <a:latin typeface="Calibri"/>
              </a:rPr>
              <a:t>AI / ML Engineer</a:t>
            </a:r>
          </a:p>
        </p:txBody>
      </p:sp>
      <p:sp>
        <p:nvSpPr>
          <p:cNvPr id="15" name="TextBox 14"/>
          <p:cNvSpPr txBox="1"/>
          <p:nvPr/>
        </p:nvSpPr>
        <p:spPr>
          <a:xfrm>
            <a:off x="6705600" y="3712464"/>
            <a:ext cx="4876800" cy="822960"/>
          </a:xfrm>
          <a:prstGeom prst="rect">
            <a:avLst/>
          </a:prstGeom>
          <a:noFill/>
        </p:spPr>
        <p:txBody>
          <a:bodyPr wrap="square">
            <a:spAutoFit/>
          </a:bodyPr>
          <a:lstStyle/>
          <a:p>
            <a:pPr algn="l"/>
            <a:r>
              <a:rPr sz="1150" b="0" i="0">
                <a:solidFill>
                  <a:srgbClr val="545464"/>
                </a:solidFill>
                <a:latin typeface="Calibri"/>
              </a:rPr>
              <a:t>Builds the risk prediction and NLP blocker detection pipelines. Owns all ML model training, evaluation, and deployment.</a:t>
            </a:r>
          </a:p>
        </p:txBody>
      </p:sp>
      <p:sp>
        <p:nvSpPr>
          <p:cNvPr id="16" name="Rectangle 15"/>
          <p:cNvSpPr/>
          <p:nvPr/>
        </p:nvSpPr>
        <p:spPr>
          <a:xfrm>
            <a:off x="11948160" y="281635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48160" y="281635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1040" y="2907792"/>
            <a:ext cx="4876800" cy="420624"/>
          </a:xfrm>
          <a:prstGeom prst="rect">
            <a:avLst/>
          </a:prstGeom>
          <a:noFill/>
        </p:spPr>
        <p:txBody>
          <a:bodyPr wrap="square">
            <a:spAutoFit/>
          </a:bodyPr>
          <a:lstStyle/>
          <a:p>
            <a:pPr algn="l"/>
            <a:r>
              <a:rPr sz="1400" b="1" i="0">
                <a:solidFill>
                  <a:srgbClr val="1C1C2C"/>
                </a:solidFill>
                <a:latin typeface="Calibri"/>
              </a:rPr>
              <a:t>Shivam Mewada</a:t>
            </a:r>
          </a:p>
        </p:txBody>
      </p:sp>
      <p:sp>
        <p:nvSpPr>
          <p:cNvPr id="19" name="TextBox 18"/>
          <p:cNvSpPr txBox="1"/>
          <p:nvPr/>
        </p:nvSpPr>
        <p:spPr>
          <a:xfrm>
            <a:off x="12131040" y="3328416"/>
            <a:ext cx="4876800" cy="347472"/>
          </a:xfrm>
          <a:prstGeom prst="rect">
            <a:avLst/>
          </a:prstGeom>
          <a:noFill/>
        </p:spPr>
        <p:txBody>
          <a:bodyPr wrap="square">
            <a:spAutoFit/>
          </a:bodyPr>
          <a:lstStyle/>
          <a:p>
            <a:pPr algn="l"/>
            <a:r>
              <a:rPr sz="1200" b="0" i="1">
                <a:solidFill>
                  <a:srgbClr val="0C386E"/>
                </a:solidFill>
                <a:latin typeface="Calibri"/>
              </a:rPr>
              <a:t>Frontend Developer</a:t>
            </a:r>
          </a:p>
        </p:txBody>
      </p:sp>
      <p:sp>
        <p:nvSpPr>
          <p:cNvPr id="20" name="TextBox 19"/>
          <p:cNvSpPr txBox="1"/>
          <p:nvPr/>
        </p:nvSpPr>
        <p:spPr>
          <a:xfrm>
            <a:off x="12131040" y="3712464"/>
            <a:ext cx="4876800" cy="822960"/>
          </a:xfrm>
          <a:prstGeom prst="rect">
            <a:avLst/>
          </a:prstGeom>
          <a:noFill/>
        </p:spPr>
        <p:txBody>
          <a:bodyPr wrap="square">
            <a:spAutoFit/>
          </a:bodyPr>
          <a:lstStyle/>
          <a:p>
            <a:pPr algn="l"/>
            <a:r>
              <a:rPr sz="1150" b="0" i="0">
                <a:solidFill>
                  <a:srgbClr val="545464"/>
                </a:solidFill>
                <a:latin typeface="Calibri"/>
              </a:rPr>
              <a:t>Designs and develops the real-time project intelligence dashboard. Implements live WebSocket data streams and interactive visualisations.</a:t>
            </a:r>
          </a:p>
        </p:txBody>
      </p:sp>
      <p:sp>
        <p:nvSpPr>
          <p:cNvPr id="21" name="Rectangle 20"/>
          <p:cNvSpPr/>
          <p:nvPr/>
        </p:nvSpPr>
        <p:spPr>
          <a:xfrm>
            <a:off x="1097280" y="478231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478231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4873752"/>
            <a:ext cx="4876800" cy="420624"/>
          </a:xfrm>
          <a:prstGeom prst="rect">
            <a:avLst/>
          </a:prstGeom>
          <a:noFill/>
        </p:spPr>
        <p:txBody>
          <a:bodyPr wrap="square">
            <a:spAutoFit/>
          </a:bodyPr>
          <a:lstStyle/>
          <a:p>
            <a:pPr algn="l"/>
            <a:r>
              <a:rPr sz="1400" b="1" i="0">
                <a:solidFill>
                  <a:srgbClr val="1C1C2C"/>
                </a:solidFill>
                <a:latin typeface="Calibri"/>
              </a:rPr>
              <a:t>Satyam Pandey</a:t>
            </a:r>
          </a:p>
        </p:txBody>
      </p:sp>
      <p:sp>
        <p:nvSpPr>
          <p:cNvPr id="24" name="TextBox 23"/>
          <p:cNvSpPr txBox="1"/>
          <p:nvPr/>
        </p:nvSpPr>
        <p:spPr>
          <a:xfrm>
            <a:off x="1280160" y="5294376"/>
            <a:ext cx="4876800" cy="347472"/>
          </a:xfrm>
          <a:prstGeom prst="rect">
            <a:avLst/>
          </a:prstGeom>
          <a:noFill/>
        </p:spPr>
        <p:txBody>
          <a:bodyPr wrap="square">
            <a:spAutoFit/>
          </a:bodyPr>
          <a:lstStyle/>
          <a:p>
            <a:pPr algn="l"/>
            <a:r>
              <a:rPr sz="1200" b="0" i="1">
                <a:solidFill>
                  <a:srgbClr val="0C386E"/>
                </a:solidFill>
                <a:latin typeface="Calibri"/>
              </a:rPr>
              <a:t>Data Engineer</a:t>
            </a:r>
          </a:p>
        </p:txBody>
      </p:sp>
      <p:sp>
        <p:nvSpPr>
          <p:cNvPr id="25" name="TextBox 24"/>
          <p:cNvSpPr txBox="1"/>
          <p:nvPr/>
        </p:nvSpPr>
        <p:spPr>
          <a:xfrm>
            <a:off x="1280160" y="5678424"/>
            <a:ext cx="4876800" cy="822960"/>
          </a:xfrm>
          <a:prstGeom prst="rect">
            <a:avLst/>
          </a:prstGeom>
          <a:noFill/>
        </p:spPr>
        <p:txBody>
          <a:bodyPr wrap="square">
            <a:spAutoFit/>
          </a:bodyPr>
          <a:lstStyle/>
          <a:p>
            <a:pPr algn="l"/>
            <a:r>
              <a:rPr sz="1150" b="0" i="0">
                <a:solidFill>
                  <a:srgbClr val="545464"/>
                </a:solidFill>
                <a:latin typeface="Calibri"/>
              </a:rPr>
              <a:t>Manages data pipelines, schema design, and the analytical layer powering all AI modules and project reporting systems.</a:t>
            </a:r>
          </a:p>
        </p:txBody>
      </p:sp>
      <p:sp>
        <p:nvSpPr>
          <p:cNvPr id="26" name="Rectangle 25"/>
          <p:cNvSpPr/>
          <p:nvPr/>
        </p:nvSpPr>
        <p:spPr>
          <a:xfrm>
            <a:off x="6522720" y="478231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22720" y="478231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5600" y="4873752"/>
            <a:ext cx="4876800" cy="420624"/>
          </a:xfrm>
          <a:prstGeom prst="rect">
            <a:avLst/>
          </a:prstGeom>
          <a:noFill/>
        </p:spPr>
        <p:txBody>
          <a:bodyPr wrap="square">
            <a:spAutoFit/>
          </a:bodyPr>
          <a:lstStyle/>
          <a:p>
            <a:pPr algn="l"/>
            <a:r>
              <a:rPr sz="1400" b="1" i="0">
                <a:solidFill>
                  <a:srgbClr val="1C1C2C"/>
                </a:solidFill>
                <a:latin typeface="Calibri"/>
              </a:rPr>
              <a:t>Nishant Navale</a:t>
            </a:r>
          </a:p>
        </p:txBody>
      </p:sp>
      <p:sp>
        <p:nvSpPr>
          <p:cNvPr id="29" name="TextBox 28"/>
          <p:cNvSpPr txBox="1"/>
          <p:nvPr/>
        </p:nvSpPr>
        <p:spPr>
          <a:xfrm>
            <a:off x="6705600" y="5294376"/>
            <a:ext cx="4876800" cy="347472"/>
          </a:xfrm>
          <a:prstGeom prst="rect">
            <a:avLst/>
          </a:prstGeom>
          <a:noFill/>
        </p:spPr>
        <p:txBody>
          <a:bodyPr wrap="square">
            <a:spAutoFit/>
          </a:bodyPr>
          <a:lstStyle/>
          <a:p>
            <a:pPr algn="l"/>
            <a:r>
              <a:rPr sz="1200" b="0" i="1">
                <a:solidFill>
                  <a:srgbClr val="0C386E"/>
                </a:solidFill>
                <a:latin typeface="Calibri"/>
              </a:rPr>
              <a:t>DevOps &amp; Cloud Engineer</a:t>
            </a:r>
          </a:p>
        </p:txBody>
      </p:sp>
      <p:sp>
        <p:nvSpPr>
          <p:cNvPr id="30" name="TextBox 29"/>
          <p:cNvSpPr txBox="1"/>
          <p:nvPr/>
        </p:nvSpPr>
        <p:spPr>
          <a:xfrm>
            <a:off x="6705600" y="5678424"/>
            <a:ext cx="4876800" cy="822960"/>
          </a:xfrm>
          <a:prstGeom prst="rect">
            <a:avLst/>
          </a:prstGeom>
          <a:noFill/>
        </p:spPr>
        <p:txBody>
          <a:bodyPr wrap="square">
            <a:spAutoFit/>
          </a:bodyPr>
          <a:lstStyle/>
          <a:p>
            <a:pPr algn="l"/>
            <a:r>
              <a:rPr sz="1150" b="0" i="0">
                <a:solidFill>
                  <a:srgbClr val="545464"/>
                </a:solidFill>
                <a:latin typeface="Calibri"/>
              </a:rPr>
              <a:t>Handles Docker containerisation, AWS ECS deployment, CI/CD pipelines, and system scalability, monitoring, and security hardening.</a:t>
            </a:r>
          </a:p>
        </p:txBody>
      </p:sp>
      <p:sp>
        <p:nvSpPr>
          <p:cNvPr id="31" name="Rectangle 30"/>
          <p:cNvSpPr/>
          <p:nvPr/>
        </p:nvSpPr>
        <p:spPr>
          <a:xfrm>
            <a:off x="11948160" y="4782312"/>
            <a:ext cx="5242560" cy="1828800"/>
          </a:xfrm>
          <a:prstGeom prst="rect">
            <a:avLst/>
          </a:prstGeom>
          <a:solidFill>
            <a:srgbClr val="E2D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948160" y="4782312"/>
            <a:ext cx="5242560" cy="64008"/>
          </a:xfrm>
          <a:prstGeom prst="rect">
            <a:avLst/>
          </a:prstGeom>
          <a:solidFill>
            <a:srgbClr val="0C3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131040" y="4873752"/>
            <a:ext cx="4876800" cy="420624"/>
          </a:xfrm>
          <a:prstGeom prst="rect">
            <a:avLst/>
          </a:prstGeom>
          <a:noFill/>
        </p:spPr>
        <p:txBody>
          <a:bodyPr wrap="square">
            <a:spAutoFit/>
          </a:bodyPr>
          <a:lstStyle/>
          <a:p>
            <a:pPr algn="l"/>
            <a:r>
              <a:rPr sz="1400" b="1" i="0">
                <a:solidFill>
                  <a:srgbClr val="1C1C2C"/>
                </a:solidFill>
                <a:latin typeface="Calibri"/>
              </a:rPr>
              <a:t>Kshitij Nalawade</a:t>
            </a:r>
          </a:p>
        </p:txBody>
      </p:sp>
      <p:sp>
        <p:nvSpPr>
          <p:cNvPr id="34" name="TextBox 33"/>
          <p:cNvSpPr txBox="1"/>
          <p:nvPr/>
        </p:nvSpPr>
        <p:spPr>
          <a:xfrm>
            <a:off x="12131040" y="5294376"/>
            <a:ext cx="4876800" cy="347472"/>
          </a:xfrm>
          <a:prstGeom prst="rect">
            <a:avLst/>
          </a:prstGeom>
          <a:noFill/>
        </p:spPr>
        <p:txBody>
          <a:bodyPr wrap="square">
            <a:spAutoFit/>
          </a:bodyPr>
          <a:lstStyle/>
          <a:p>
            <a:pPr algn="l"/>
            <a:r>
              <a:rPr sz="1200" b="0" i="1">
                <a:solidFill>
                  <a:srgbClr val="0C386E"/>
                </a:solidFill>
                <a:latin typeface="Calibri"/>
              </a:rPr>
              <a:t>Integration Engineer</a:t>
            </a:r>
          </a:p>
        </p:txBody>
      </p:sp>
      <p:sp>
        <p:nvSpPr>
          <p:cNvPr id="35" name="TextBox 34"/>
          <p:cNvSpPr txBox="1"/>
          <p:nvPr/>
        </p:nvSpPr>
        <p:spPr>
          <a:xfrm>
            <a:off x="12131040" y="5678424"/>
            <a:ext cx="4876800" cy="822960"/>
          </a:xfrm>
          <a:prstGeom prst="rect">
            <a:avLst/>
          </a:prstGeom>
          <a:noFill/>
        </p:spPr>
        <p:txBody>
          <a:bodyPr wrap="square">
            <a:spAutoFit/>
          </a:bodyPr>
          <a:lstStyle/>
          <a:p>
            <a:pPr algn="l"/>
            <a:r>
              <a:rPr sz="1150" b="0" i="0">
                <a:solidFill>
                  <a:srgbClr val="545464"/>
                </a:solidFill>
                <a:latin typeface="Calibri"/>
              </a:rPr>
              <a:t>Builds and maintains API integrations with Jira, Slack, GitHub, and all external platforms using OAuth 2.0 and webhook architecture.</a:t>
            </a:r>
          </a:p>
        </p:txBody>
      </p:sp>
      <p:sp>
        <p:nvSpPr>
          <p:cNvPr id="36" name="TextBox 35"/>
          <p:cNvSpPr txBox="1"/>
          <p:nvPr/>
        </p:nvSpPr>
        <p:spPr>
          <a:xfrm>
            <a:off x="1097280" y="6821424"/>
            <a:ext cx="16093440" cy="420624"/>
          </a:xfrm>
          <a:prstGeom prst="rect">
            <a:avLst/>
          </a:prstGeom>
          <a:noFill/>
        </p:spPr>
        <p:txBody>
          <a:bodyPr wrap="square">
            <a:spAutoFit/>
          </a:bodyPr>
          <a:lstStyle/>
          <a:p>
            <a:pPr algn="l"/>
            <a:r>
              <a:rPr sz="1600" b="1" i="0">
                <a:solidFill>
                  <a:srgbClr val="1C1C2C"/>
                </a:solidFill>
                <a:latin typeface="Calibri"/>
              </a:rPr>
              <a:t>Current Development Progress</a:t>
            </a:r>
          </a:p>
        </p:txBody>
      </p:sp>
      <p:sp>
        <p:nvSpPr>
          <p:cNvPr id="37" name="Rectangle 36"/>
          <p:cNvSpPr/>
          <p:nvPr/>
        </p:nvSpPr>
        <p:spPr>
          <a:xfrm>
            <a:off x="1097280" y="7278624"/>
            <a:ext cx="16093440" cy="27432"/>
          </a:xfrm>
          <a:prstGeom prst="rect">
            <a:avLst/>
          </a:prstGeom>
          <a:solidFill>
            <a:srgbClr val="C0B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7452360"/>
            <a:ext cx="3474720" cy="420624"/>
          </a:xfrm>
          <a:prstGeom prst="rect">
            <a:avLst/>
          </a:prstGeom>
          <a:noFill/>
        </p:spPr>
        <p:txBody>
          <a:bodyPr wrap="square">
            <a:spAutoFit/>
          </a:bodyPr>
          <a:lstStyle/>
          <a:p>
            <a:pPr algn="l"/>
            <a:r>
              <a:rPr sz="1300" b="1" i="0">
                <a:solidFill>
                  <a:srgbClr val="0C386E"/>
                </a:solidFill>
                <a:latin typeface="Calibri"/>
              </a:rPr>
              <a:t>✔  Completed</a:t>
            </a:r>
          </a:p>
        </p:txBody>
      </p:sp>
      <p:sp>
        <p:nvSpPr>
          <p:cNvPr id="39" name="TextBox 38"/>
          <p:cNvSpPr txBox="1"/>
          <p:nvPr/>
        </p:nvSpPr>
        <p:spPr>
          <a:xfrm>
            <a:off x="4754880" y="7452360"/>
            <a:ext cx="12435840" cy="420624"/>
          </a:xfrm>
          <a:prstGeom prst="rect">
            <a:avLst/>
          </a:prstGeom>
          <a:noFill/>
        </p:spPr>
        <p:txBody>
          <a:bodyPr wrap="square">
            <a:spAutoFit/>
          </a:bodyPr>
          <a:lstStyle/>
          <a:p>
            <a:pPr algn="l"/>
            <a:r>
              <a:rPr sz="1250" b="0" i="0">
                <a:solidFill>
                  <a:srgbClr val="1C1C2C"/>
                </a:solidFill>
                <a:latin typeface="Calibri"/>
              </a:rPr>
              <a:t>Problem research &amp; stakeholder interviews · System architecture design · Tech stack finalised · Jira API integration prototype · DB schema defined</a:t>
            </a:r>
          </a:p>
        </p:txBody>
      </p:sp>
      <p:sp>
        <p:nvSpPr>
          <p:cNvPr id="40" name="TextBox 39"/>
          <p:cNvSpPr txBox="1"/>
          <p:nvPr/>
        </p:nvSpPr>
        <p:spPr>
          <a:xfrm>
            <a:off x="1097280" y="8348472"/>
            <a:ext cx="3474720" cy="420624"/>
          </a:xfrm>
          <a:prstGeom prst="rect">
            <a:avLst/>
          </a:prstGeom>
          <a:noFill/>
        </p:spPr>
        <p:txBody>
          <a:bodyPr wrap="square">
            <a:spAutoFit/>
          </a:bodyPr>
          <a:lstStyle/>
          <a:p>
            <a:pPr algn="l"/>
            <a:r>
              <a:rPr sz="1300" b="1" i="0">
                <a:solidFill>
                  <a:srgbClr val="0C386E"/>
                </a:solidFill>
                <a:latin typeface="Calibri"/>
              </a:rPr>
              <a:t>⧗  In Progress</a:t>
            </a:r>
          </a:p>
        </p:txBody>
      </p:sp>
      <p:sp>
        <p:nvSpPr>
          <p:cNvPr id="41" name="TextBox 40"/>
          <p:cNvSpPr txBox="1"/>
          <p:nvPr/>
        </p:nvSpPr>
        <p:spPr>
          <a:xfrm>
            <a:off x="4754880" y="8348472"/>
            <a:ext cx="12435840" cy="420624"/>
          </a:xfrm>
          <a:prstGeom prst="rect">
            <a:avLst/>
          </a:prstGeom>
          <a:noFill/>
        </p:spPr>
        <p:txBody>
          <a:bodyPr wrap="square">
            <a:spAutoFit/>
          </a:bodyPr>
          <a:lstStyle/>
          <a:p>
            <a:pPr algn="l"/>
            <a:r>
              <a:rPr sz="1250" b="0" i="0">
                <a:solidFill>
                  <a:srgbClr val="1C1C2C"/>
                </a:solidFill>
                <a:latin typeface="Calibri"/>
              </a:rPr>
              <a:t>NLP blocker detection model · Real-time dashboard UI (React.js) · Slack integration module · Risk scoring ML pipeline · WebSocket event layer</a:t>
            </a:r>
          </a:p>
        </p:txBody>
      </p:sp>
      <p:sp>
        <p:nvSpPr>
          <p:cNvPr id="42" name="TextBox 41"/>
          <p:cNvSpPr txBox="1"/>
          <p:nvPr/>
        </p:nvSpPr>
        <p:spPr>
          <a:xfrm>
            <a:off x="1097280" y="9244584"/>
            <a:ext cx="3474720" cy="420624"/>
          </a:xfrm>
          <a:prstGeom prst="rect">
            <a:avLst/>
          </a:prstGeom>
          <a:noFill/>
        </p:spPr>
        <p:txBody>
          <a:bodyPr wrap="square">
            <a:spAutoFit/>
          </a:bodyPr>
          <a:lstStyle/>
          <a:p>
            <a:pPr algn="l"/>
            <a:r>
              <a:rPr sz="1300" b="1" i="0">
                <a:solidFill>
                  <a:srgbClr val="0C386E"/>
                </a:solidFill>
                <a:latin typeface="Calibri"/>
              </a:rPr>
              <a:t>○  Planned (Post-Hackathon)</a:t>
            </a:r>
          </a:p>
        </p:txBody>
      </p:sp>
      <p:sp>
        <p:nvSpPr>
          <p:cNvPr id="43" name="TextBox 42"/>
          <p:cNvSpPr txBox="1"/>
          <p:nvPr/>
        </p:nvSpPr>
        <p:spPr>
          <a:xfrm>
            <a:off x="4754880" y="9244584"/>
            <a:ext cx="12435840" cy="420624"/>
          </a:xfrm>
          <a:prstGeom prst="rect">
            <a:avLst/>
          </a:prstGeom>
          <a:noFill/>
        </p:spPr>
        <p:txBody>
          <a:bodyPr wrap="square">
            <a:spAutoFit/>
          </a:bodyPr>
          <a:lstStyle/>
          <a:p>
            <a:pPr algn="l"/>
            <a:r>
              <a:rPr sz="1250" b="0" i="0">
                <a:solidFill>
                  <a:srgbClr val="1C1C2C"/>
                </a:solidFill>
                <a:latin typeface="Calibri"/>
              </a:rPr>
              <a:t>Full AI risk engine · Automated report generator · GitHub &amp; Asana integrations · Performance testing · Security hardening · v1.0 beta deployment on AWS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315</Words>
  <Application>Microsoft Office PowerPoint</Application>
  <PresentationFormat>Custom</PresentationFormat>
  <Paragraphs>35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Cerebri</vt:lpstr>
      <vt:lpstr>Arial</vt:lpstr>
      <vt:lpstr>Times New Roman</vt:lpstr>
      <vt:lpstr>Calibri</vt:lpstr>
      <vt:lpstr>Cerebri Medium</vt:lpstr>
      <vt:lpstr>Optima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Loop PPT Template</dc:title>
  <cp:lastModifiedBy>Shivam Mewada</cp:lastModifiedBy>
  <cp:revision>2</cp:revision>
  <dcterms:created xsi:type="dcterms:W3CDTF">2006-08-16T00:00:00Z</dcterms:created>
  <dcterms:modified xsi:type="dcterms:W3CDTF">2026-02-20T14:44:48Z</dcterms:modified>
  <dc:identifier>DAG9BJWo1RM</dc:identifier>
</cp:coreProperties>
</file>